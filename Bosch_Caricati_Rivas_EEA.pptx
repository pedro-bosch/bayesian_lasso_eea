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ink/ink1.xml" ContentType="application/inkml+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4"/>
  </p:notesMasterIdLst>
  <p:sldIdLst>
    <p:sldId id="267" r:id="rId2"/>
    <p:sldId id="269" r:id="rId3"/>
    <p:sldId id="270" r:id="rId4"/>
    <p:sldId id="271" r:id="rId5"/>
    <p:sldId id="272" r:id="rId6"/>
    <p:sldId id="273" r:id="rId7"/>
    <p:sldId id="276" r:id="rId8"/>
    <p:sldId id="277" r:id="rId9"/>
    <p:sldId id="278" r:id="rId10"/>
    <p:sldId id="279" r:id="rId11"/>
    <p:sldId id="280" r:id="rId12"/>
    <p:sldId id="281" r:id="rId13"/>
  </p:sldIdLst>
  <p:sldSz cx="14630400" cy="8229600"/>
  <p:notesSz cx="8229600" cy="14630400"/>
  <p:embeddedFontLst>
    <p:embeddedFont>
      <p:font typeface="Cambria Math" panose="02040503050406030204" pitchFamily="18" charset="0"/>
      <p:regular r:id="rId15"/>
    </p:embeddedFont>
    <p:embeddedFont>
      <p:font typeface="Source Sans 3" panose="020B0604020202020204" charset="0"/>
      <p:regular r:id="rId1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592" userDrawn="1">
          <p15:clr>
            <a:srgbClr val="A4A3A4"/>
          </p15:clr>
        </p15:guide>
        <p15:guide id="2" pos="4608"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25F7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7994" autoAdjust="0"/>
    <p:restoredTop sz="94610"/>
  </p:normalViewPr>
  <p:slideViewPr>
    <p:cSldViewPr snapToGrid="0" snapToObjects="1">
      <p:cViewPr>
        <p:scale>
          <a:sx n="100" d="100"/>
          <a:sy n="100" d="100"/>
        </p:scale>
        <p:origin x="624" y="72"/>
      </p:cViewPr>
      <p:guideLst>
        <p:guide orient="horz" pos="2592"/>
        <p:guide pos="4608"/>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font" Target="fonts/font2.fntdata"/><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1.fntdata"/><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3T19:26:17.122"/>
    </inkml:context>
    <inkml:brush xml:id="br0">
      <inkml:brushProperty name="width" value="0.035" units="cm"/>
      <inkml:brushProperty name="height" value="0.035" units="cm"/>
      <inkml:brushProperty name="color" value="#E71224"/>
    </inkml:brush>
  </inkml:definitions>
  <inkml:trace contextRef="#ctx0" brushRef="#br0">0 0 22982,'1095'0'0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4260120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822D2E-803B-69CE-8AEE-A88D2C636F9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04B50A8-4C9F-0B83-8E2B-6C7D05DB1EC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754E3EA-147D-0E82-1CFD-1B53E7FD89A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5BB89D5-93BD-7D0F-978A-8D0FB5C86F73}"/>
              </a:ext>
            </a:extLst>
          </p:cNvPr>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237438950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03D28C-170E-C48A-F7C5-52A771B4083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15267D7-FF06-C720-E5CF-C32E47970B9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3A98253-02C4-B128-2DEC-C9F62064856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94A8D3C-D4ED-6656-1320-52239E5862DC}"/>
              </a:ext>
            </a:extLst>
          </p:cNvPr>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28333994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D3799E-7DD7-04DC-A2F9-5E26ACFFA6E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36AAD4F-E892-F186-6783-F3F2D2D3CC1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1CE16C9-3D12-6551-17D2-69FD9FC1F23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59FE2E6-181B-654F-AFBB-4D365752B5E7}"/>
              </a:ext>
            </a:extLst>
          </p:cNvPr>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345185340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4D42B5-327C-F3A7-2C6B-8745558FA5F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C9486F0-BA7C-9F92-788E-0D6BC838D33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B4718F6-F13A-10B2-C820-F46D4CC0B72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7A1585F-2709-CBF8-FF67-73891E3C96B5}"/>
              </a:ext>
            </a:extLst>
          </p:cNvPr>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422058891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6AC9B8-A56F-4E59-90F0-06FA356EED0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A226EAB-8246-8DDA-3700-5FD0F2B6154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DBD52DD-FD9C-B950-9A16-AFF89A3CA01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6D373C6-1AB6-6745-5BFE-706EE4683427}"/>
              </a:ext>
            </a:extLst>
          </p:cNvPr>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93541780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440409-1C77-F1A1-3965-59DBDC742D9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6E6E1A2-CAD8-C576-B43B-C0DF12A29B1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B327078-4D6D-2352-B30E-31BE6C628B3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8AD40E4-16CB-4D97-DD5D-55CF2EBEC4D5}"/>
              </a:ext>
            </a:extLst>
          </p:cNvPr>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50585816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0E7F5C-0398-1D31-6933-3AA0120CF58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1EF125D-200F-75AE-1116-A73F284F108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631199E-290D-07AE-6D20-2D9A0DB869A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B0581F8-0C36-9211-80C8-77583B256DA5}"/>
              </a:ext>
            </a:extLst>
          </p:cNvPr>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202297697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B7EE99-8951-E048-4F62-4FA6AE4B8A3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2A37BA2-BFD6-7954-9618-A538F3B47EB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1F4B32F-40E3-40C0-6C7C-23A01CBDD3B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C465736-706E-242D-C8A9-11FC34B4C288}"/>
              </a:ext>
            </a:extLst>
          </p:cNvPr>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88467686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6018AD-F867-1FD7-989B-214391EF3BB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B7A067D-F554-74D7-B80B-6259077922E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5E2F82E-5DB0-AA34-4B64-47BA6B42F08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6EF9BD2-2EDC-86CF-0AB5-7C180DCE602F}"/>
              </a:ext>
            </a:extLst>
          </p:cNvPr>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408342455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58E1B5-AF5A-28BF-DE8C-57D9DD378BD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A671F61-A145-DC8D-BF8D-950C13FE44A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152F24C-EC93-E541-8F47-31087CA225F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C80C130-5A6A-0B97-F522-76316796768B}"/>
              </a:ext>
            </a:extLst>
          </p:cNvPr>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58219117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1F617E-5FC3-AA08-48AE-4FA036EAECE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C5AD128-A125-5384-F407-39EE0C23373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87F44F5-3860-B3C2-8959-93DCA5892C0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74F7386-78F6-3E9F-E425-E0944C1B1C68}"/>
              </a:ext>
            </a:extLst>
          </p:cNvPr>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310948092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A7C6CC-F398-34E6-0C25-B49E2F60557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875B140-29CE-3B9B-26EC-844008CF97E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7B5BA4D-58B8-9F64-20D3-A6633ECDB68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BEAF414-683E-2A8C-DC2A-2E36E6838B6D}"/>
              </a:ext>
            </a:extLst>
          </p:cNvPr>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357216764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50738C"/>
          </a:solidFill>
          <a:ln/>
        </p:spPr>
        <p:txBody>
          <a:bodyPr/>
          <a:lstStyle/>
          <a:p>
            <a:endParaRPr lang="en-US"/>
          </a:p>
        </p:txBody>
      </p:sp>
      <p:sp>
        <p:nvSpPr>
          <p:cNvPr id="3" name="Shape 1"/>
          <p:cNvSpPr/>
          <p:nvPr/>
        </p:nvSpPr>
        <p:spPr>
          <a:xfrm>
            <a:off x="0" y="0"/>
            <a:ext cx="14630400" cy="8229600"/>
          </a:xfrm>
          <a:prstGeom prst="rect">
            <a:avLst/>
          </a:prstGeom>
          <a:solidFill>
            <a:srgbClr val="FFFCF5"/>
          </a:solidFill>
          <a:ln/>
        </p:spPr>
        <p:txBody>
          <a:bodyPr/>
          <a:lstStyle/>
          <a:p>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50738C"/>
          </a:solidFill>
          <a:ln/>
        </p:spPr>
        <p:txBody>
          <a:bodyPr/>
          <a:lstStyle/>
          <a:p>
            <a:endParaRPr lang="en-US"/>
          </a:p>
        </p:txBody>
      </p:sp>
      <p:sp>
        <p:nvSpPr>
          <p:cNvPr id="3" name="Shape 1"/>
          <p:cNvSpPr/>
          <p:nvPr/>
        </p:nvSpPr>
        <p:spPr>
          <a:xfrm>
            <a:off x="0" y="0"/>
            <a:ext cx="14630400" cy="8229600"/>
          </a:xfrm>
          <a:prstGeom prst="rect">
            <a:avLst/>
          </a:prstGeom>
          <a:solidFill>
            <a:srgbClr val="FFFCF5"/>
          </a:solidFill>
          <a:ln/>
        </p:spPr>
        <p:txBody>
          <a:bodyPr/>
          <a:lstStyle/>
          <a:p>
            <a:endParaRPr lang="en-US"/>
          </a:p>
        </p:txBody>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50738C"/>
          </a:solidFill>
          <a:ln/>
        </p:spPr>
        <p:txBody>
          <a:bodyPr/>
          <a:lstStyle/>
          <a:p>
            <a:endParaRPr lang="en-US"/>
          </a:p>
        </p:txBody>
      </p:sp>
      <p:sp>
        <p:nvSpPr>
          <p:cNvPr id="3" name="Shape 1"/>
          <p:cNvSpPr/>
          <p:nvPr/>
        </p:nvSpPr>
        <p:spPr>
          <a:xfrm>
            <a:off x="0" y="0"/>
            <a:ext cx="14630400" cy="8229600"/>
          </a:xfrm>
          <a:prstGeom prst="rect">
            <a:avLst/>
          </a:prstGeom>
          <a:solidFill>
            <a:srgbClr val="FFFCF5"/>
          </a:solidFill>
          <a:ln/>
        </p:spPr>
        <p:txBody>
          <a:bodyPr/>
          <a:lstStyle/>
          <a:p>
            <a:endParaRPr lang="en-US"/>
          </a:p>
        </p:txBody>
      </p:sp>
      <p:sp>
        <p:nvSpPr>
          <p:cNvPr id="5" name="Rectangle 4">
            <a:extLst>
              <a:ext uri="{FF2B5EF4-FFF2-40B4-BE49-F238E27FC236}">
                <a16:creationId xmlns:a16="http://schemas.microsoft.com/office/drawing/2014/main" id="{55522458-36A5-3623-2BAD-F8C19180F1E2}"/>
              </a:ext>
            </a:extLst>
          </p:cNvPr>
          <p:cNvSpPr/>
          <p:nvPr userDrawn="1"/>
        </p:nvSpPr>
        <p:spPr>
          <a:xfrm>
            <a:off x="1" y="7953153"/>
            <a:ext cx="14630400" cy="276447"/>
          </a:xfrm>
          <a:prstGeom prst="rect">
            <a:avLst/>
          </a:prstGeom>
          <a:solidFill>
            <a:srgbClr val="325F7B"/>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r>
              <a:rPr lang="es-ES" sz="1200" b="0" i="0" kern="1200" dirty="0">
                <a:solidFill>
                  <a:schemeClr val="lt1"/>
                </a:solidFill>
                <a:effectLst/>
                <a:latin typeface="+mn-lt"/>
                <a:ea typeface="+mn-ea"/>
                <a:cs typeface="+mn-cs"/>
              </a:rPr>
              <a:t>Maestría en Explotación de Datos y Descubrimiento del Conocimiento – Facultad de Cs. Exactas y Naturales - UBA</a:t>
            </a:r>
            <a:endParaRPr lang="en-US" sz="1050" b="0"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50738C"/>
          </a:solidFill>
          <a:ln/>
        </p:spPr>
        <p:txBody>
          <a:bodyPr/>
          <a:lstStyle/>
          <a:p>
            <a:endParaRPr lang="en-US"/>
          </a:p>
        </p:txBody>
      </p:sp>
      <p:sp>
        <p:nvSpPr>
          <p:cNvPr id="3" name="Shape 1"/>
          <p:cNvSpPr/>
          <p:nvPr/>
        </p:nvSpPr>
        <p:spPr>
          <a:xfrm>
            <a:off x="0" y="0"/>
            <a:ext cx="14630400" cy="8229600"/>
          </a:xfrm>
          <a:prstGeom prst="rect">
            <a:avLst/>
          </a:prstGeom>
          <a:solidFill>
            <a:srgbClr val="FFFCF5"/>
          </a:solidFill>
          <a:ln/>
        </p:spPr>
        <p:txBody>
          <a:bodyPr/>
          <a:lstStyle/>
          <a:p>
            <a:endParaRPr lang="en-US"/>
          </a:p>
        </p:txBody>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50738C"/>
          </a:solidFill>
          <a:ln/>
        </p:spPr>
        <p:txBody>
          <a:bodyPr/>
          <a:lstStyle/>
          <a:p>
            <a:endParaRPr lang="en-US"/>
          </a:p>
        </p:txBody>
      </p:sp>
      <p:sp>
        <p:nvSpPr>
          <p:cNvPr id="3" name="Shape 1"/>
          <p:cNvSpPr/>
          <p:nvPr/>
        </p:nvSpPr>
        <p:spPr>
          <a:xfrm>
            <a:off x="0" y="0"/>
            <a:ext cx="14630400" cy="8229600"/>
          </a:xfrm>
          <a:prstGeom prst="rect">
            <a:avLst/>
          </a:prstGeom>
          <a:solidFill>
            <a:srgbClr val="FFFCF5"/>
          </a:solidFill>
          <a:ln/>
        </p:spPr>
        <p:txBody>
          <a:bodyPr/>
          <a:lstStyle/>
          <a:p>
            <a:endParaRPr lang="en-US"/>
          </a:p>
        </p:txBody>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50738C"/>
          </a:solidFill>
          <a:ln/>
        </p:spPr>
        <p:txBody>
          <a:bodyPr/>
          <a:lstStyle/>
          <a:p>
            <a:endParaRPr lang="en-US"/>
          </a:p>
        </p:txBody>
      </p:sp>
      <p:sp>
        <p:nvSpPr>
          <p:cNvPr id="3" name="Shape 1"/>
          <p:cNvSpPr/>
          <p:nvPr/>
        </p:nvSpPr>
        <p:spPr>
          <a:xfrm>
            <a:off x="0" y="0"/>
            <a:ext cx="14630400" cy="8229600"/>
          </a:xfrm>
          <a:prstGeom prst="rect">
            <a:avLst/>
          </a:prstGeom>
          <a:solidFill>
            <a:srgbClr val="FFFCF5"/>
          </a:solidFill>
          <a:ln/>
        </p:spPr>
        <p:txBody>
          <a:bodyPr/>
          <a:lstStyle/>
          <a:p>
            <a:endParaRPr lang="en-US"/>
          </a:p>
        </p:txBody>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50738C"/>
          </a:solidFill>
          <a:ln/>
        </p:spPr>
        <p:txBody>
          <a:bodyPr/>
          <a:lstStyle/>
          <a:p>
            <a:endParaRPr lang="en-US"/>
          </a:p>
        </p:txBody>
      </p:sp>
      <p:sp>
        <p:nvSpPr>
          <p:cNvPr id="3" name="Shape 1"/>
          <p:cNvSpPr/>
          <p:nvPr/>
        </p:nvSpPr>
        <p:spPr>
          <a:xfrm>
            <a:off x="0" y="0"/>
            <a:ext cx="14630400" cy="8229600"/>
          </a:xfrm>
          <a:prstGeom prst="rect">
            <a:avLst/>
          </a:prstGeom>
          <a:solidFill>
            <a:srgbClr val="FFFCF5"/>
          </a:solidFill>
          <a:ln/>
        </p:spPr>
        <p:txBody>
          <a:bodyPr/>
          <a:lstStyle/>
          <a:p>
            <a:endParaRPr lang="en-US"/>
          </a:p>
        </p:txBody>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4.xml"/><Relationship Id="rId6" Type="http://schemas.openxmlformats.org/officeDocument/2006/relationships/image" Target="../media/image9.png"/><Relationship Id="rId5" Type="http://schemas.openxmlformats.org/officeDocument/2006/relationships/customXml" Target="../ink/ink1.xml"/><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4.xml"/><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110.png"/><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120.png"/><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F0591C-0B81-DEB3-17F4-1CC93D728971}"/>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86274757-5571-2186-9BA6-A2A6A21D5A74}"/>
              </a:ext>
            </a:extLst>
          </p:cNvPr>
          <p:cNvSpPr/>
          <p:nvPr/>
        </p:nvSpPr>
        <p:spPr>
          <a:xfrm>
            <a:off x="793790" y="1694377"/>
            <a:ext cx="11982450" cy="1773506"/>
          </a:xfrm>
          <a:prstGeom prst="rect">
            <a:avLst/>
          </a:prstGeom>
          <a:noFill/>
          <a:ln/>
        </p:spPr>
        <p:txBody>
          <a:bodyPr wrap="none" lIns="0" tIns="0" rIns="0" bIns="0" rtlCol="0" anchor="t"/>
          <a:lstStyle/>
          <a:p>
            <a:pPr marL="0" indent="0" algn="l">
              <a:lnSpc>
                <a:spcPts val="5550"/>
              </a:lnSpc>
              <a:buNone/>
            </a:pPr>
            <a:r>
              <a:rPr lang="es-ES" sz="4800" b="1" noProof="0" dirty="0">
                <a:solidFill>
                  <a:srgbClr val="124E73"/>
                </a:solidFill>
                <a:latin typeface="Source Sans 3" panose="020B0604020202020204" charset="0"/>
                <a:ea typeface="MuseoModerno Medium" pitchFamily="34" charset="-122"/>
                <a:cs typeface="MuseoModerno Medium" pitchFamily="34" charset="-120"/>
              </a:rPr>
              <a:t>Aplicaciones Macroeconómicas de </a:t>
            </a:r>
            <a:r>
              <a:rPr lang="es-ES" sz="4800" b="1" noProof="0" dirty="0" err="1">
                <a:solidFill>
                  <a:srgbClr val="124E73"/>
                </a:solidFill>
                <a:latin typeface="Source Sans 3" panose="020B0604020202020204" charset="0"/>
                <a:ea typeface="MuseoModerno Medium" pitchFamily="34" charset="-122"/>
                <a:cs typeface="MuseoModerno Medium" pitchFamily="34" charset="-120"/>
              </a:rPr>
              <a:t>Bayesian</a:t>
            </a:r>
            <a:r>
              <a:rPr lang="es-ES" sz="4800" b="1" noProof="0" dirty="0">
                <a:solidFill>
                  <a:srgbClr val="124E73"/>
                </a:solidFill>
                <a:latin typeface="Source Sans 3" panose="020B0604020202020204" charset="0"/>
                <a:ea typeface="MuseoModerno Medium" pitchFamily="34" charset="-122"/>
                <a:cs typeface="MuseoModerno Medium" pitchFamily="34" charset="-120"/>
              </a:rPr>
              <a:t> Lasso:</a:t>
            </a:r>
          </a:p>
          <a:p>
            <a:pPr marL="0" indent="0" algn="l">
              <a:lnSpc>
                <a:spcPts val="5550"/>
              </a:lnSpc>
              <a:buNone/>
            </a:pPr>
            <a:r>
              <a:rPr lang="es-ES" sz="4800" b="1" noProof="0" dirty="0">
                <a:solidFill>
                  <a:srgbClr val="124E73"/>
                </a:solidFill>
                <a:latin typeface="Source Sans 3" panose="020B0604020202020204" charset="0"/>
                <a:ea typeface="MuseoModerno Medium" pitchFamily="34" charset="-122"/>
                <a:cs typeface="MuseoModerno Medium" pitchFamily="34" charset="-120"/>
              </a:rPr>
              <a:t>El Caso de la Regla de Taylor</a:t>
            </a:r>
            <a:endParaRPr lang="es-ES" sz="3200" dirty="0">
              <a:solidFill>
                <a:srgbClr val="124E73"/>
              </a:solidFill>
              <a:latin typeface="Source Sans 3" panose="020B0604020202020204" charset="0"/>
            </a:endParaRPr>
          </a:p>
        </p:txBody>
      </p:sp>
      <p:sp>
        <p:nvSpPr>
          <p:cNvPr id="4" name="Text 1">
            <a:extLst>
              <a:ext uri="{FF2B5EF4-FFF2-40B4-BE49-F238E27FC236}">
                <a16:creationId xmlns:a16="http://schemas.microsoft.com/office/drawing/2014/main" id="{FEAAB4DC-132B-8DC0-4F93-0321150BDE8B}"/>
              </a:ext>
            </a:extLst>
          </p:cNvPr>
          <p:cNvSpPr/>
          <p:nvPr/>
        </p:nvSpPr>
        <p:spPr>
          <a:xfrm>
            <a:off x="793790" y="3952952"/>
            <a:ext cx="12635771" cy="2282598"/>
          </a:xfrm>
          <a:prstGeom prst="rect">
            <a:avLst/>
          </a:prstGeom>
          <a:noFill/>
          <a:ln/>
        </p:spPr>
        <p:txBody>
          <a:bodyPr wrap="square" lIns="0" tIns="0" rIns="0" bIns="0" rtlCol="0" anchor="t"/>
          <a:lstStyle/>
          <a:p>
            <a:pPr marL="0" indent="0" algn="ctr">
              <a:lnSpc>
                <a:spcPts val="2850"/>
              </a:lnSpc>
              <a:buNone/>
            </a:pPr>
            <a:r>
              <a:rPr lang="es-ES" sz="3600" noProof="0" dirty="0">
                <a:solidFill>
                  <a:srgbClr val="2B4150"/>
                </a:solidFill>
                <a:latin typeface="Source Sans 3" panose="020B0604020202020204" charset="0"/>
                <a:ea typeface="Source Sans 3" pitchFamily="34" charset="-122"/>
                <a:cs typeface="Source Sans 3" pitchFamily="34" charset="-120"/>
              </a:rPr>
              <a:t>Enfoque Estadístico del Aprendizaje</a:t>
            </a:r>
          </a:p>
          <a:p>
            <a:pPr marL="0" indent="0" algn="ctr">
              <a:lnSpc>
                <a:spcPts val="2850"/>
              </a:lnSpc>
              <a:buNone/>
            </a:pPr>
            <a:endParaRPr lang="es-ES" sz="3200" dirty="0">
              <a:solidFill>
                <a:srgbClr val="2B4150"/>
              </a:solidFill>
              <a:latin typeface="Source Sans 3" panose="020B0604020202020204" charset="0"/>
            </a:endParaRPr>
          </a:p>
          <a:p>
            <a:pPr marL="0" indent="0" algn="ctr">
              <a:buNone/>
            </a:pPr>
            <a:r>
              <a:rPr lang="es-ES" sz="3200" dirty="0">
                <a:solidFill>
                  <a:srgbClr val="2B4150"/>
                </a:solidFill>
                <a:latin typeface="Source Sans 3" panose="020B0604020202020204" charset="0"/>
              </a:rPr>
              <a:t>Bosch, Pedro</a:t>
            </a:r>
          </a:p>
          <a:p>
            <a:pPr marL="0" indent="0" algn="ctr">
              <a:buNone/>
            </a:pPr>
            <a:r>
              <a:rPr lang="es-ES" sz="3200" noProof="0" dirty="0" err="1">
                <a:solidFill>
                  <a:srgbClr val="2B4150"/>
                </a:solidFill>
                <a:latin typeface="Source Sans 3" panose="020B0604020202020204" charset="0"/>
              </a:rPr>
              <a:t>Caricati</a:t>
            </a:r>
            <a:r>
              <a:rPr lang="es-ES" sz="3200" noProof="0" dirty="0">
                <a:solidFill>
                  <a:srgbClr val="2B4150"/>
                </a:solidFill>
                <a:latin typeface="Source Sans 3" panose="020B0604020202020204" charset="0"/>
              </a:rPr>
              <a:t>, Nicolás</a:t>
            </a:r>
          </a:p>
          <a:p>
            <a:pPr marL="0" indent="0" algn="ctr">
              <a:buNone/>
            </a:pPr>
            <a:r>
              <a:rPr lang="es-ES" sz="3200" dirty="0">
                <a:solidFill>
                  <a:srgbClr val="2B4150"/>
                </a:solidFill>
                <a:latin typeface="Source Sans 3" panose="020B0604020202020204" charset="0"/>
              </a:rPr>
              <a:t>Rivas, Agustín</a:t>
            </a:r>
            <a:endParaRPr lang="es-ES" sz="2000" noProof="0" dirty="0">
              <a:latin typeface="Source Sans 3" panose="020B0604020202020204" charset="0"/>
            </a:endParaRPr>
          </a:p>
        </p:txBody>
      </p:sp>
    </p:spTree>
    <p:extLst>
      <p:ext uri="{BB962C8B-B14F-4D97-AF65-F5344CB8AC3E}">
        <p14:creationId xmlns:p14="http://schemas.microsoft.com/office/powerpoint/2010/main" val="318355897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24DCA3-F201-3A41-92E7-3007B07768C4}"/>
            </a:ext>
          </a:extLst>
        </p:cNvPr>
        <p:cNvGrpSpPr/>
        <p:nvPr/>
      </p:nvGrpSpPr>
      <p:grpSpPr>
        <a:xfrm>
          <a:off x="0" y="0"/>
          <a:ext cx="0" cy="0"/>
          <a:chOff x="0" y="0"/>
          <a:chExt cx="0" cy="0"/>
        </a:xfrm>
      </p:grpSpPr>
      <p:sp>
        <p:nvSpPr>
          <p:cNvPr id="5" name="Shape 3">
            <a:extLst>
              <a:ext uri="{FF2B5EF4-FFF2-40B4-BE49-F238E27FC236}">
                <a16:creationId xmlns:a16="http://schemas.microsoft.com/office/drawing/2014/main" id="{29588B9D-1223-4926-5F30-7721973D2C7A}"/>
              </a:ext>
            </a:extLst>
          </p:cNvPr>
          <p:cNvSpPr/>
          <p:nvPr/>
        </p:nvSpPr>
        <p:spPr>
          <a:xfrm>
            <a:off x="763310" y="1211854"/>
            <a:ext cx="121920" cy="2793935"/>
          </a:xfrm>
          <a:prstGeom prst="roundRect">
            <a:avLst>
              <a:gd name="adj" fmla="val 27907"/>
            </a:avLst>
          </a:prstGeom>
          <a:solidFill>
            <a:srgbClr val="325F7B"/>
          </a:solidFill>
          <a:ln/>
        </p:spPr>
        <p:txBody>
          <a:bodyPr/>
          <a:lstStyle/>
          <a:p>
            <a:endParaRPr lang="es-ES" noProof="0" dirty="0"/>
          </a:p>
        </p:txBody>
      </p:sp>
      <mc:AlternateContent xmlns:mc="http://schemas.openxmlformats.org/markup-compatibility/2006">
        <mc:Choice xmlns:a14="http://schemas.microsoft.com/office/drawing/2010/main" Requires="a14">
          <p:sp>
            <p:nvSpPr>
              <p:cNvPr id="19" name="TextBox 18">
                <a:extLst>
                  <a:ext uri="{FF2B5EF4-FFF2-40B4-BE49-F238E27FC236}">
                    <a16:creationId xmlns:a16="http://schemas.microsoft.com/office/drawing/2014/main" id="{E3648FDA-63C5-2913-7DC1-F21902131D71}"/>
                  </a:ext>
                </a:extLst>
              </p:cNvPr>
              <p:cNvSpPr txBox="1"/>
              <p:nvPr/>
            </p:nvSpPr>
            <p:spPr>
              <a:xfrm>
                <a:off x="1189820" y="1211854"/>
                <a:ext cx="12338891" cy="2716000"/>
              </a:xfrm>
              <a:prstGeom prst="rect">
                <a:avLst/>
              </a:prstGeom>
              <a:noFill/>
            </p:spPr>
            <p:txBody>
              <a:bodyPr wrap="square" rtlCol="0">
                <a:spAutoFit/>
              </a:bodyPr>
              <a:lstStyle/>
              <a:p>
                <a:pPr marL="285750" indent="-285750">
                  <a:buFont typeface="Arial" panose="020B0604020202020204" pitchFamily="34" charset="0"/>
                  <a:buChar char="•"/>
                </a:pPr>
                <a:r>
                  <a:rPr lang="es-ES" dirty="0"/>
                  <a:t>Aplicación de métodos de regresión bayesiana a la </a:t>
                </a:r>
                <a:r>
                  <a:rPr lang="es-ES" b="1" dirty="0"/>
                  <a:t>Regla de Taylor.</a:t>
                </a:r>
                <a:r>
                  <a:rPr lang="es-ES" dirty="0"/>
                  <a:t> </a:t>
                </a:r>
              </a:p>
              <a:p>
                <a:pPr marL="285750" indent="-285750">
                  <a:buFont typeface="Arial" panose="020B0604020202020204" pitchFamily="34" charset="0"/>
                  <a:buChar char="•"/>
                </a:pPr>
                <a:r>
                  <a:rPr lang="es-ES" dirty="0"/>
                  <a:t>Regla de política monetaria ampliamente utilizada por los Bancos Centrales, para determinar la tasa de interés de la política monetaria en función de la evolución de la inflación y el crecimiento del PBI. </a:t>
                </a:r>
              </a:p>
              <a:p>
                <a:pPr marL="285750" indent="-285750">
                  <a:buFont typeface="Arial" panose="020B0604020202020204" pitchFamily="34" charset="0"/>
                  <a:buChar char="•"/>
                </a:pPr>
                <a:endParaRPr lang="en-US" dirty="0"/>
              </a:p>
              <a:p>
                <a:pPr/>
                <a14:m>
                  <m:oMathPara xmlns:m="http://schemas.openxmlformats.org/officeDocument/2006/math">
                    <m:oMathParaPr>
                      <m:jc m:val="centerGroup"/>
                    </m:oMathParaPr>
                    <m:oMath xmlns:m="http://schemas.openxmlformats.org/officeDocument/2006/math">
                      <m:sSub>
                        <m:sSubPr>
                          <m:ctrlPr>
                            <a:rPr lang="en-US" sz="2000" i="1">
                              <a:latin typeface="Cambria Math" panose="02040503050406030204" pitchFamily="18" charset="0"/>
                            </a:rPr>
                          </m:ctrlPr>
                        </m:sSubPr>
                        <m:e>
                          <m:r>
                            <a:rPr lang="es-ES" sz="2000" i="1">
                              <a:latin typeface="Cambria Math" panose="02040503050406030204" pitchFamily="18" charset="0"/>
                            </a:rPr>
                            <m:t>𝑖</m:t>
                          </m:r>
                        </m:e>
                        <m:sub>
                          <m:r>
                            <a:rPr lang="es-ES" sz="2000" i="1">
                              <a:latin typeface="Cambria Math" panose="02040503050406030204" pitchFamily="18" charset="0"/>
                            </a:rPr>
                            <m:t>𝑡</m:t>
                          </m:r>
                        </m:sub>
                      </m:sSub>
                      <m:r>
                        <a:rPr lang="es-ES" sz="2000" i="1">
                          <a:latin typeface="Cambria Math" panose="02040503050406030204" pitchFamily="18" charset="0"/>
                        </a:rPr>
                        <m:t>=</m:t>
                      </m:r>
                      <m:sSub>
                        <m:sSubPr>
                          <m:ctrlPr>
                            <a:rPr lang="en-US" sz="2000" i="1">
                              <a:latin typeface="Cambria Math" panose="02040503050406030204" pitchFamily="18" charset="0"/>
                            </a:rPr>
                          </m:ctrlPr>
                        </m:sSubPr>
                        <m:e>
                          <m:r>
                            <a:rPr lang="es-ES" sz="2000" i="1">
                              <a:latin typeface="Cambria Math" panose="02040503050406030204" pitchFamily="18" charset="0"/>
                            </a:rPr>
                            <m:t>𝑖</m:t>
                          </m:r>
                        </m:e>
                        <m:sub>
                          <m:r>
                            <a:rPr lang="es-ES" sz="2000" i="1">
                              <a:latin typeface="Cambria Math" panose="02040503050406030204" pitchFamily="18" charset="0"/>
                            </a:rPr>
                            <m:t>𝑡</m:t>
                          </m:r>
                          <m:r>
                            <a:rPr lang="es-ES" sz="2000" i="1">
                              <a:latin typeface="Cambria Math" panose="02040503050406030204" pitchFamily="18" charset="0"/>
                            </a:rPr>
                            <m:t>−1</m:t>
                          </m:r>
                        </m:sub>
                      </m:sSub>
                      <m:r>
                        <a:rPr lang="es-ES" sz="2000" i="1">
                          <a:latin typeface="Cambria Math" panose="02040503050406030204" pitchFamily="18" charset="0"/>
                        </a:rPr>
                        <m:t>+</m:t>
                      </m:r>
                      <m:sSub>
                        <m:sSubPr>
                          <m:ctrlPr>
                            <a:rPr lang="en-US" sz="2000" i="1">
                              <a:latin typeface="Cambria Math" panose="02040503050406030204" pitchFamily="18" charset="0"/>
                            </a:rPr>
                          </m:ctrlPr>
                        </m:sSubPr>
                        <m:e>
                          <m:r>
                            <a:rPr lang="es-ES" sz="2000" i="1">
                              <a:latin typeface="Cambria Math" panose="02040503050406030204" pitchFamily="18" charset="0"/>
                            </a:rPr>
                            <m:t>𝑎</m:t>
                          </m:r>
                        </m:e>
                        <m:sub>
                          <m:r>
                            <a:rPr lang="es-ES" sz="2000" i="1">
                              <a:latin typeface="Cambria Math" panose="02040503050406030204" pitchFamily="18" charset="0"/>
                            </a:rPr>
                            <m:t>𝜋</m:t>
                          </m:r>
                        </m:sub>
                      </m:sSub>
                      <m:sSubSup>
                        <m:sSubSupPr>
                          <m:ctrlPr>
                            <a:rPr lang="en-US" sz="2000" i="1">
                              <a:latin typeface="Cambria Math" panose="02040503050406030204" pitchFamily="18" charset="0"/>
                            </a:rPr>
                          </m:ctrlPr>
                        </m:sSubSupPr>
                        <m:e>
                          <m:r>
                            <a:rPr lang="es-ES" sz="2000" i="1">
                              <a:latin typeface="Cambria Math" panose="02040503050406030204" pitchFamily="18" charset="0"/>
                            </a:rPr>
                            <m:t>𝜋</m:t>
                          </m:r>
                        </m:e>
                        <m:sub>
                          <m:r>
                            <a:rPr lang="es-ES" sz="2000" i="1">
                              <a:latin typeface="Cambria Math" panose="02040503050406030204" pitchFamily="18" charset="0"/>
                            </a:rPr>
                            <m:t>𝑡</m:t>
                          </m:r>
                        </m:sub>
                        <m:sup>
                          <m:r>
                            <a:rPr lang="es-ES" sz="2000" i="1">
                              <a:latin typeface="Cambria Math" panose="02040503050406030204" pitchFamily="18" charset="0"/>
                            </a:rPr>
                            <m:t>𝑔𝑎𝑝</m:t>
                          </m:r>
                        </m:sup>
                      </m:sSubSup>
                      <m:r>
                        <a:rPr lang="es-ES" sz="2000" i="1">
                          <a:latin typeface="Cambria Math" panose="02040503050406030204" pitchFamily="18" charset="0"/>
                        </a:rPr>
                        <m:t>+</m:t>
                      </m:r>
                      <m:sSub>
                        <m:sSubPr>
                          <m:ctrlPr>
                            <a:rPr lang="en-US" sz="2000" i="1">
                              <a:latin typeface="Cambria Math" panose="02040503050406030204" pitchFamily="18" charset="0"/>
                            </a:rPr>
                          </m:ctrlPr>
                        </m:sSubPr>
                        <m:e>
                          <m:r>
                            <a:rPr lang="es-ES" sz="2000" i="1">
                              <a:latin typeface="Cambria Math" panose="02040503050406030204" pitchFamily="18" charset="0"/>
                            </a:rPr>
                            <m:t>𝑎</m:t>
                          </m:r>
                        </m:e>
                        <m:sub>
                          <m:r>
                            <a:rPr lang="es-ES" sz="2000" i="1">
                              <a:latin typeface="Cambria Math" panose="02040503050406030204" pitchFamily="18" charset="0"/>
                            </a:rPr>
                            <m:t>𝑦</m:t>
                          </m:r>
                        </m:sub>
                      </m:sSub>
                      <m:sSubSup>
                        <m:sSubSupPr>
                          <m:ctrlPr>
                            <a:rPr lang="en-US" sz="2000" i="1">
                              <a:latin typeface="Cambria Math" panose="02040503050406030204" pitchFamily="18" charset="0"/>
                            </a:rPr>
                          </m:ctrlPr>
                        </m:sSubSupPr>
                        <m:e>
                          <m:r>
                            <a:rPr lang="es-ES" sz="2000" i="1">
                              <a:latin typeface="Cambria Math" panose="02040503050406030204" pitchFamily="18" charset="0"/>
                            </a:rPr>
                            <m:t>𝑦</m:t>
                          </m:r>
                        </m:e>
                        <m:sub>
                          <m:r>
                            <a:rPr lang="es-ES" sz="2000" i="1">
                              <a:latin typeface="Cambria Math" panose="02040503050406030204" pitchFamily="18" charset="0"/>
                            </a:rPr>
                            <m:t>𝑡</m:t>
                          </m:r>
                        </m:sub>
                        <m:sup>
                          <m:r>
                            <a:rPr lang="es-ES" sz="2000" i="1">
                              <a:latin typeface="Cambria Math" panose="02040503050406030204" pitchFamily="18" charset="0"/>
                            </a:rPr>
                            <m:t>𝑔𝑎𝑝</m:t>
                          </m:r>
                        </m:sup>
                      </m:sSubSup>
                      <m:r>
                        <a:rPr lang="es-ES" sz="2000" i="1">
                          <a:latin typeface="Cambria Math" panose="02040503050406030204" pitchFamily="18" charset="0"/>
                        </a:rPr>
                        <m:t>​</m:t>
                      </m:r>
                    </m:oMath>
                  </m:oMathPara>
                </a14:m>
                <a:endParaRPr lang="en-US" sz="2000" dirty="0"/>
              </a:p>
              <a:p>
                <a:r>
                  <a:rPr lang="es-ES" dirty="0"/>
                  <a:t>Donde,</a:t>
                </a:r>
                <a:endParaRPr lang="en-US" dirty="0"/>
              </a:p>
              <a:p>
                <a:pPr marL="285750" lvl="0" indent="-285750">
                  <a:buFont typeface="Arial" panose="020B0604020202020204" pitchFamily="34" charset="0"/>
                  <a:buChar char="•"/>
                </a:pPr>
                <a14:m>
                  <m:oMath xmlns:m="http://schemas.openxmlformats.org/officeDocument/2006/math">
                    <m:sSub>
                      <m:sSubPr>
                        <m:ctrlPr>
                          <a:rPr lang="es-ES" b="0" i="1" smtClean="0">
                            <a:latin typeface="Cambria Math" panose="02040503050406030204" pitchFamily="18" charset="0"/>
                          </a:rPr>
                        </m:ctrlPr>
                      </m:sSubPr>
                      <m:e>
                        <m:r>
                          <a:rPr lang="es-ES" i="1">
                            <a:latin typeface="Cambria Math" panose="02040503050406030204" pitchFamily="18" charset="0"/>
                          </a:rPr>
                          <m:t>𝑖</m:t>
                        </m:r>
                      </m:e>
                      <m:sub>
                        <m:r>
                          <a:rPr lang="es-ES" b="0" i="1" smtClean="0">
                            <a:latin typeface="Cambria Math" panose="02040503050406030204" pitchFamily="18" charset="0"/>
                          </a:rPr>
                          <m:t>𝑡</m:t>
                        </m:r>
                      </m:sub>
                    </m:sSub>
                  </m:oMath>
                </a14:m>
                <a:r>
                  <a:rPr lang="es-ES" dirty="0"/>
                  <a:t>: Tasa de interés</a:t>
                </a:r>
                <a:endParaRPr lang="en-US" dirty="0"/>
              </a:p>
              <a:p>
                <a:pPr marL="285750" lvl="0" indent="-285750">
                  <a:buFont typeface="Arial" panose="020B0604020202020204" pitchFamily="34" charset="0"/>
                  <a:buChar char="•"/>
                </a:pPr>
                <a14:m>
                  <m:oMath xmlns:m="http://schemas.openxmlformats.org/officeDocument/2006/math">
                    <m:sSubSup>
                      <m:sSubSupPr>
                        <m:ctrlPr>
                          <a:rPr lang="en-US" i="1">
                            <a:latin typeface="Cambria Math" panose="02040503050406030204" pitchFamily="18" charset="0"/>
                          </a:rPr>
                        </m:ctrlPr>
                      </m:sSubSupPr>
                      <m:e>
                        <m:r>
                          <a:rPr lang="es-ES" i="1">
                            <a:latin typeface="Cambria Math" panose="02040503050406030204" pitchFamily="18" charset="0"/>
                          </a:rPr>
                          <m:t>𝜋</m:t>
                        </m:r>
                      </m:e>
                      <m:sub>
                        <m:r>
                          <a:rPr lang="es-ES" i="1">
                            <a:latin typeface="Cambria Math" panose="02040503050406030204" pitchFamily="18" charset="0"/>
                          </a:rPr>
                          <m:t>𝑡</m:t>
                        </m:r>
                      </m:sub>
                      <m:sup>
                        <m:r>
                          <a:rPr lang="es-ES" i="1">
                            <a:latin typeface="Cambria Math" panose="02040503050406030204" pitchFamily="18" charset="0"/>
                          </a:rPr>
                          <m:t>𝑔𝑎𝑝</m:t>
                        </m:r>
                      </m:sup>
                    </m:sSubSup>
                  </m:oMath>
                </a14:m>
                <a:r>
                  <a:rPr lang="es-ES" dirty="0"/>
                  <a:t>: Brecha entre inflación observada e inflación esperada </a:t>
                </a:r>
                <a:endParaRPr lang="en-US" dirty="0"/>
              </a:p>
              <a:p>
                <a:pPr marL="285750" indent="-285750">
                  <a:buFont typeface="Arial" panose="020B0604020202020204" pitchFamily="34" charset="0"/>
                  <a:buChar char="•"/>
                </a:pPr>
                <a14:m>
                  <m:oMath xmlns:m="http://schemas.openxmlformats.org/officeDocument/2006/math">
                    <m:sSubSup>
                      <m:sSubSupPr>
                        <m:ctrlPr>
                          <a:rPr lang="en-US" i="1">
                            <a:latin typeface="Cambria Math" panose="02040503050406030204" pitchFamily="18" charset="0"/>
                          </a:rPr>
                        </m:ctrlPr>
                      </m:sSubSupPr>
                      <m:e>
                        <m:r>
                          <a:rPr lang="es-ES" i="1">
                            <a:latin typeface="Cambria Math" panose="02040503050406030204" pitchFamily="18" charset="0"/>
                          </a:rPr>
                          <m:t>𝑦</m:t>
                        </m:r>
                      </m:e>
                      <m:sub>
                        <m:r>
                          <a:rPr lang="es-ES" i="1">
                            <a:latin typeface="Cambria Math" panose="02040503050406030204" pitchFamily="18" charset="0"/>
                          </a:rPr>
                          <m:t>𝑡</m:t>
                        </m:r>
                      </m:sub>
                      <m:sup>
                        <m:r>
                          <a:rPr lang="es-ES" i="1">
                            <a:latin typeface="Cambria Math" panose="02040503050406030204" pitchFamily="18" charset="0"/>
                          </a:rPr>
                          <m:t>𝑔𝑎𝑝</m:t>
                        </m:r>
                      </m:sup>
                    </m:sSubSup>
                  </m:oMath>
                </a14:m>
                <a:r>
                  <a:rPr lang="es-ES" dirty="0"/>
                  <a:t>: Brecha entre crecimiento del PBI observado y esperado</a:t>
                </a:r>
                <a:endParaRPr lang="en-US" dirty="0"/>
              </a:p>
            </p:txBody>
          </p:sp>
        </mc:Choice>
        <mc:Fallback>
          <p:sp>
            <p:nvSpPr>
              <p:cNvPr id="19" name="TextBox 18">
                <a:extLst>
                  <a:ext uri="{FF2B5EF4-FFF2-40B4-BE49-F238E27FC236}">
                    <a16:creationId xmlns:a16="http://schemas.microsoft.com/office/drawing/2014/main" id="{E3648FDA-63C5-2913-7DC1-F21902131D71}"/>
                  </a:ext>
                </a:extLst>
              </p:cNvPr>
              <p:cNvSpPr txBox="1">
                <a:spLocks noRot="1" noChangeAspect="1" noMove="1" noResize="1" noEditPoints="1" noAdjustHandles="1" noChangeArrowheads="1" noChangeShapeType="1" noTextEdit="1"/>
              </p:cNvSpPr>
              <p:nvPr/>
            </p:nvSpPr>
            <p:spPr>
              <a:xfrm>
                <a:off x="1189820" y="1211854"/>
                <a:ext cx="12338891" cy="2716000"/>
              </a:xfrm>
              <a:prstGeom prst="rect">
                <a:avLst/>
              </a:prstGeom>
              <a:blipFill>
                <a:blip r:embed="rId3"/>
                <a:stretch>
                  <a:fillRect l="-395" t="-1348" b="-2472"/>
                </a:stretch>
              </a:blipFill>
            </p:spPr>
            <p:txBody>
              <a:bodyPr/>
              <a:lstStyle/>
              <a:p>
                <a:r>
                  <a:rPr lang="en-US">
                    <a:noFill/>
                  </a:rPr>
                  <a:t> </a:t>
                </a:r>
              </a:p>
            </p:txBody>
          </p:sp>
        </mc:Fallback>
      </mc:AlternateContent>
      <p:sp>
        <p:nvSpPr>
          <p:cNvPr id="20" name="Shape 3">
            <a:extLst>
              <a:ext uri="{FF2B5EF4-FFF2-40B4-BE49-F238E27FC236}">
                <a16:creationId xmlns:a16="http://schemas.microsoft.com/office/drawing/2014/main" id="{4594C076-41ED-CE1A-EAFB-91ACDFDCD71C}"/>
              </a:ext>
            </a:extLst>
          </p:cNvPr>
          <p:cNvSpPr/>
          <p:nvPr/>
        </p:nvSpPr>
        <p:spPr>
          <a:xfrm>
            <a:off x="763310" y="4757444"/>
            <a:ext cx="121920" cy="2050979"/>
          </a:xfrm>
          <a:prstGeom prst="roundRect">
            <a:avLst>
              <a:gd name="adj" fmla="val 27907"/>
            </a:avLst>
          </a:prstGeom>
          <a:solidFill>
            <a:srgbClr val="325F7B"/>
          </a:solidFill>
          <a:ln/>
        </p:spPr>
        <p:txBody>
          <a:bodyPr/>
          <a:lstStyle/>
          <a:p>
            <a:endParaRPr lang="es-ES" noProof="0" dirty="0"/>
          </a:p>
        </p:txBody>
      </p:sp>
      <p:sp>
        <p:nvSpPr>
          <p:cNvPr id="21" name="TextBox 20">
            <a:extLst>
              <a:ext uri="{FF2B5EF4-FFF2-40B4-BE49-F238E27FC236}">
                <a16:creationId xmlns:a16="http://schemas.microsoft.com/office/drawing/2014/main" id="{BFBB3067-FD81-D77D-7133-895480B6D55A}"/>
              </a:ext>
            </a:extLst>
          </p:cNvPr>
          <p:cNvSpPr txBox="1"/>
          <p:nvPr/>
        </p:nvSpPr>
        <p:spPr>
          <a:xfrm>
            <a:off x="1189820" y="4757444"/>
            <a:ext cx="12338891" cy="2585323"/>
          </a:xfrm>
          <a:prstGeom prst="rect">
            <a:avLst/>
          </a:prstGeom>
          <a:noFill/>
        </p:spPr>
        <p:txBody>
          <a:bodyPr wrap="square" rtlCol="0">
            <a:spAutoFit/>
          </a:bodyPr>
          <a:lstStyle/>
          <a:p>
            <a:pPr marL="285750" indent="-285750">
              <a:buFont typeface="Arial" panose="020B0604020202020204" pitchFamily="34" charset="0"/>
              <a:buChar char="•"/>
            </a:pPr>
            <a:r>
              <a:rPr lang="es-ES" b="1" dirty="0" err="1"/>
              <a:t>Dataset</a:t>
            </a:r>
            <a:r>
              <a:rPr lang="es-ES" b="1" dirty="0"/>
              <a:t>. </a:t>
            </a:r>
            <a:r>
              <a:rPr lang="es-ES" dirty="0"/>
              <a:t>Series macroeconómicas de Estados Unidos publicadas por la Reserva Federal de St. Louis (FRED).</a:t>
            </a:r>
            <a:endParaRPr lang="es-ES" b="1" dirty="0"/>
          </a:p>
          <a:p>
            <a:pPr marL="285750" indent="-285750">
              <a:buFont typeface="Arial" panose="020B0604020202020204" pitchFamily="34" charset="0"/>
              <a:buChar char="•"/>
            </a:pPr>
            <a:r>
              <a:rPr lang="es-ES" b="1" dirty="0"/>
              <a:t>Objetivos.</a:t>
            </a:r>
            <a:r>
              <a:rPr lang="es-ES" dirty="0"/>
              <a:t> </a:t>
            </a:r>
          </a:p>
          <a:p>
            <a:pPr marL="742950" lvl="1" indent="-285750">
              <a:buFont typeface="Arial" panose="020B0604020202020204" pitchFamily="34" charset="0"/>
              <a:buChar char="•"/>
            </a:pPr>
            <a:r>
              <a:rPr lang="es-ES" dirty="0"/>
              <a:t>Calibrar y comparar las estimaciones de los parámetros de la regla bajo distintos supuestos informativos, evaluando cómo cambia la inferencia al introducir </a:t>
            </a:r>
            <a:r>
              <a:rPr lang="es-ES" dirty="0" err="1"/>
              <a:t>priors</a:t>
            </a:r>
            <a:r>
              <a:rPr lang="es-ES" dirty="0"/>
              <a:t> alternativas.</a:t>
            </a:r>
          </a:p>
          <a:p>
            <a:pPr marL="742950" lvl="1" indent="-285750">
              <a:buFont typeface="Arial" panose="020B0604020202020204" pitchFamily="34" charset="0"/>
              <a:buChar char="•"/>
            </a:pPr>
            <a:r>
              <a:rPr lang="es-ES" dirty="0"/>
              <a:t>Analizar el impacto sobre las distribuciones posterior y sobre la incertidumbre asociada a los coeficientes.</a:t>
            </a:r>
          </a:p>
          <a:p>
            <a:pPr marL="742950" lvl="1" indent="-285750">
              <a:buFont typeface="Arial" panose="020B0604020202020204" pitchFamily="34" charset="0"/>
              <a:buChar char="•"/>
            </a:pPr>
            <a:r>
              <a:rPr lang="es-ES" dirty="0"/>
              <a:t>Para determinar las distribuciones prior, se utilizarán como referencia trabajos empíricos relevantes en la materia, que utilizan OLS clásico, y se compararán resultados entre el </a:t>
            </a:r>
            <a:r>
              <a:rPr lang="es-ES" i="1" dirty="0" err="1"/>
              <a:t>approach</a:t>
            </a:r>
            <a:r>
              <a:rPr lang="es-ES" dirty="0"/>
              <a:t> bayesiano y el frecuentista. </a:t>
            </a:r>
            <a:endParaRPr lang="en-US" dirty="0"/>
          </a:p>
          <a:p>
            <a:pPr marL="285750" indent="-285750">
              <a:buFont typeface="Arial" panose="020B0604020202020204" pitchFamily="34" charset="0"/>
              <a:buChar char="•"/>
            </a:pPr>
            <a:endParaRPr lang="es-ES" b="1" dirty="0"/>
          </a:p>
          <a:p>
            <a:endParaRPr lang="en-US" dirty="0"/>
          </a:p>
        </p:txBody>
      </p:sp>
      <p:sp>
        <p:nvSpPr>
          <p:cNvPr id="2" name="TextBox 1">
            <a:extLst>
              <a:ext uri="{FF2B5EF4-FFF2-40B4-BE49-F238E27FC236}">
                <a16:creationId xmlns:a16="http://schemas.microsoft.com/office/drawing/2014/main" id="{8866CB7D-9CB3-04B0-4C5A-B390ED483CF0}"/>
              </a:ext>
            </a:extLst>
          </p:cNvPr>
          <p:cNvSpPr txBox="1"/>
          <p:nvPr/>
        </p:nvSpPr>
        <p:spPr>
          <a:xfrm>
            <a:off x="609072" y="566227"/>
            <a:ext cx="2134126" cy="461665"/>
          </a:xfrm>
          <a:prstGeom prst="rect">
            <a:avLst/>
          </a:prstGeom>
          <a:noFill/>
        </p:spPr>
        <p:txBody>
          <a:bodyPr wrap="square" rtlCol="0">
            <a:spAutoFit/>
          </a:bodyPr>
          <a:lstStyle/>
          <a:p>
            <a:r>
              <a:rPr lang="es-ES" sz="2400" dirty="0">
                <a:latin typeface="Source Sans 3" panose="020B0604020202020204" charset="0"/>
              </a:rPr>
              <a:t>Resumen</a:t>
            </a:r>
            <a:endParaRPr lang="en-US" dirty="0">
              <a:latin typeface="Source Sans 3" panose="020B0604020202020204" charset="0"/>
            </a:endParaRPr>
          </a:p>
        </p:txBody>
      </p:sp>
    </p:spTree>
    <p:extLst>
      <p:ext uri="{BB962C8B-B14F-4D97-AF65-F5344CB8AC3E}">
        <p14:creationId xmlns:p14="http://schemas.microsoft.com/office/powerpoint/2010/main" val="169669117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C05840-4CBF-0174-B853-0F94CAC7FF6D}"/>
            </a:ext>
          </a:extLst>
        </p:cNvPr>
        <p:cNvGrpSpPr/>
        <p:nvPr/>
      </p:nvGrpSpPr>
      <p:grpSpPr>
        <a:xfrm>
          <a:off x="0" y="0"/>
          <a:ext cx="0" cy="0"/>
          <a:chOff x="0" y="0"/>
          <a:chExt cx="0" cy="0"/>
        </a:xfrm>
      </p:grpSpPr>
      <p:sp>
        <p:nvSpPr>
          <p:cNvPr id="5" name="Shape 3">
            <a:extLst>
              <a:ext uri="{FF2B5EF4-FFF2-40B4-BE49-F238E27FC236}">
                <a16:creationId xmlns:a16="http://schemas.microsoft.com/office/drawing/2014/main" id="{08444096-73FA-75E5-EE94-6E5F20341831}"/>
              </a:ext>
            </a:extLst>
          </p:cNvPr>
          <p:cNvSpPr/>
          <p:nvPr/>
        </p:nvSpPr>
        <p:spPr>
          <a:xfrm>
            <a:off x="763310" y="1211855"/>
            <a:ext cx="121920" cy="2776486"/>
          </a:xfrm>
          <a:prstGeom prst="roundRect">
            <a:avLst>
              <a:gd name="adj" fmla="val 27907"/>
            </a:avLst>
          </a:prstGeom>
          <a:solidFill>
            <a:srgbClr val="325F7B"/>
          </a:solidFill>
          <a:ln/>
        </p:spPr>
        <p:txBody>
          <a:bodyPr/>
          <a:lstStyle/>
          <a:p>
            <a:endParaRPr lang="es-ES" noProof="0" dirty="0"/>
          </a:p>
        </p:txBody>
      </p:sp>
      <mc:AlternateContent xmlns:mc="http://schemas.openxmlformats.org/markup-compatibility/2006">
        <mc:Choice xmlns:a14="http://schemas.microsoft.com/office/drawing/2010/main" Requires="a14">
          <p:sp>
            <p:nvSpPr>
              <p:cNvPr id="19" name="TextBox 18">
                <a:extLst>
                  <a:ext uri="{FF2B5EF4-FFF2-40B4-BE49-F238E27FC236}">
                    <a16:creationId xmlns:a16="http://schemas.microsoft.com/office/drawing/2014/main" id="{5BD2A7AB-2541-3FED-B6FD-84C65FE212FB}"/>
                  </a:ext>
                </a:extLst>
              </p:cNvPr>
              <p:cNvSpPr txBox="1"/>
              <p:nvPr/>
            </p:nvSpPr>
            <p:spPr>
              <a:xfrm>
                <a:off x="1189820" y="1211854"/>
                <a:ext cx="12338891" cy="6186309"/>
              </a:xfrm>
              <a:prstGeom prst="rect">
                <a:avLst/>
              </a:prstGeom>
              <a:noFill/>
            </p:spPr>
            <p:txBody>
              <a:bodyPr wrap="square" rtlCol="0">
                <a:spAutoFit/>
              </a:bodyPr>
              <a:lstStyle/>
              <a:p>
                <a:pPr marL="285750" indent="-285750">
                  <a:buFont typeface="Arial" panose="020B0604020202020204" pitchFamily="34" charset="0"/>
                  <a:buChar char="•"/>
                </a:pPr>
                <a:r>
                  <a:rPr lang="es-ES" b="1" dirty="0"/>
                  <a:t>Incorporación explícita de evidencia previa. E</a:t>
                </a:r>
                <a:r>
                  <a:rPr lang="es-ES" dirty="0"/>
                  <a:t>xiste abundante literatura empírica macroeconómico sobre valores plausibles del efecto de las brechas de inflación y producto. El enfoque bayesiano permite introducir esa evidencia de manera formal mediante distribuciones a priori.</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s-ES" b="1" dirty="0"/>
                  <a:t>Interpretación probabilística. </a:t>
                </a:r>
                <a:r>
                  <a:rPr lang="es-ES" dirty="0"/>
                  <a:t>En lugar de producir únicamente estimaciones puntuales, la regresión bayesiana entrega una distribución posterior para cada parámetro. Esto habilita afirmaciones directamente probabilísticas del estilo: “con X% de probabilidad posterior, </a:t>
                </a:r>
                <a14:m>
                  <m:oMath xmlns:m="http://schemas.openxmlformats.org/officeDocument/2006/math">
                    <m:sSub>
                      <m:sSubPr>
                        <m:ctrlPr>
                          <a:rPr lang="en-US" i="1">
                            <a:latin typeface="Cambria Math" panose="02040503050406030204" pitchFamily="18" charset="0"/>
                          </a:rPr>
                        </m:ctrlPr>
                      </m:sSubPr>
                      <m:e>
                        <m:r>
                          <a:rPr lang="es-ES" i="1">
                            <a:latin typeface="Cambria Math" panose="02040503050406030204" pitchFamily="18" charset="0"/>
                          </a:rPr>
                          <m:t>𝛼</m:t>
                        </m:r>
                      </m:e>
                      <m:sub>
                        <m:r>
                          <a:rPr lang="es-ES" i="1">
                            <a:latin typeface="Cambria Math" panose="02040503050406030204" pitchFamily="18" charset="0"/>
                          </a:rPr>
                          <m:t>𝜋</m:t>
                        </m:r>
                      </m:sub>
                    </m:sSub>
                    <m:r>
                      <a:rPr lang="es-ES" i="1">
                        <a:latin typeface="Cambria Math" panose="02040503050406030204" pitchFamily="18" charset="0"/>
                      </a:rPr>
                      <m:t>&gt;0.5</m:t>
                    </m:r>
                  </m:oMath>
                </a14:m>
                <a:r>
                  <a:rPr lang="es-ES" dirty="0"/>
                  <a:t>”.</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s-ES" b="1" dirty="0"/>
                  <a:t>Estabilidad y regularización.</a:t>
                </a:r>
                <a:r>
                  <a:rPr lang="es-ES" dirty="0"/>
                  <a:t> Este enfoque suele ser atractivo en aplicaciones económicas porque ayuda a estabilizar estimaciones cuando existe multicolinealidad entre regresores, tamaño muestral limitado o inestabilidad de los coeficientes.</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s-ES" dirty="0"/>
                  <a:t>Además de la regresión bayesiana estándar, se incorporará </a:t>
                </a:r>
                <a:r>
                  <a:rPr lang="es-ES" dirty="0" err="1"/>
                  <a:t>Bayesian</a:t>
                </a:r>
                <a:r>
                  <a:rPr lang="es-ES" dirty="0"/>
                  <a:t> Lasso como una herramienta de regularización bayesiana, que impone </a:t>
                </a:r>
                <a:r>
                  <a:rPr lang="es-ES" i="1" dirty="0" err="1"/>
                  <a:t>shrinkage</a:t>
                </a:r>
                <a:r>
                  <a:rPr lang="es-ES" dirty="0"/>
                  <a:t> más fuerte hacia cero sobre los coeficientes. </a:t>
                </a:r>
              </a:p>
              <a:p>
                <a:pPr marL="285750" indent="-285750">
                  <a:buFont typeface="Arial" panose="020B0604020202020204" pitchFamily="34" charset="0"/>
                  <a:buChar char="•"/>
                </a:pPr>
                <a:endParaRPr lang="es-ES" dirty="0"/>
              </a:p>
              <a:p>
                <a:pPr marL="285750" indent="-285750">
                  <a:buFont typeface="Arial" panose="020B0604020202020204" pitchFamily="34" charset="0"/>
                  <a:buChar char="•"/>
                </a:pPr>
                <a:r>
                  <a:rPr lang="es-ES" b="1" dirty="0"/>
                  <a:t>Motivación.</a:t>
                </a:r>
                <a:r>
                  <a:rPr lang="es-ES" dirty="0"/>
                  <a:t> En modelos con variables correlacionadas, pequeñas diferencias en la especificación pueden generar coeficientes inestables. </a:t>
                </a:r>
                <a:r>
                  <a:rPr lang="es-ES" dirty="0" err="1"/>
                  <a:t>Bayesian</a:t>
                </a:r>
                <a:r>
                  <a:rPr lang="es-ES" dirty="0"/>
                  <a:t> Lasso aporta:</a:t>
                </a:r>
                <a:endParaRPr lang="en-US" dirty="0"/>
              </a:p>
              <a:p>
                <a:pPr marL="742950" lvl="1" indent="-285750">
                  <a:buFont typeface="Arial" panose="020B0604020202020204" pitchFamily="34" charset="0"/>
                  <a:buChar char="•"/>
                </a:pPr>
                <a:r>
                  <a:rPr lang="es-ES" dirty="0"/>
                  <a:t>Mayor estabilidad de las estimaciones al penalizar coeficientes grandes salvo que los datos lo justifiquen.</a:t>
                </a:r>
                <a:endParaRPr lang="en-US" dirty="0"/>
              </a:p>
              <a:p>
                <a:pPr marL="742950" lvl="1" indent="-285750">
                  <a:buFont typeface="Arial" panose="020B0604020202020204" pitchFamily="34" charset="0"/>
                  <a:buChar char="•"/>
                </a:pPr>
                <a:r>
                  <a:rPr lang="es-ES" dirty="0"/>
                  <a:t>Un mecanismo de parsimonia: empuja algunos coeficientes a valores muy cercanos a cero, lo que facilita interpretaciones y reduce sensibilidad a especificaciones alternativas.</a:t>
                </a:r>
                <a:endParaRPr lang="en-US" dirty="0"/>
              </a:p>
              <a:p>
                <a:pPr marL="742950" lvl="1" indent="-285750">
                  <a:buFont typeface="Arial" panose="020B0604020202020204" pitchFamily="34" charset="0"/>
                  <a:buChar char="•"/>
                </a:pPr>
                <a:r>
                  <a:rPr lang="es-ES" dirty="0"/>
                  <a:t>Una comparación útil entre enfoques: bayesiano objetivo vs subjetivo vs </a:t>
                </a:r>
                <a:r>
                  <a:rPr lang="es-ES" dirty="0" err="1"/>
                  <a:t>lasso</a:t>
                </a:r>
                <a:r>
                  <a:rPr lang="es-ES" dirty="0"/>
                  <a:t> y sus consecuencias sobre la inferencia y predicción.</a:t>
                </a:r>
                <a:endParaRPr lang="en-US" dirty="0"/>
              </a:p>
            </p:txBody>
          </p:sp>
        </mc:Choice>
        <mc:Fallback>
          <p:sp>
            <p:nvSpPr>
              <p:cNvPr id="19" name="TextBox 18">
                <a:extLst>
                  <a:ext uri="{FF2B5EF4-FFF2-40B4-BE49-F238E27FC236}">
                    <a16:creationId xmlns:a16="http://schemas.microsoft.com/office/drawing/2014/main" id="{5BD2A7AB-2541-3FED-B6FD-84C65FE212FB}"/>
                  </a:ext>
                </a:extLst>
              </p:cNvPr>
              <p:cNvSpPr txBox="1">
                <a:spLocks noRot="1" noChangeAspect="1" noMove="1" noResize="1" noEditPoints="1" noAdjustHandles="1" noChangeArrowheads="1" noChangeShapeType="1" noTextEdit="1"/>
              </p:cNvSpPr>
              <p:nvPr/>
            </p:nvSpPr>
            <p:spPr>
              <a:xfrm>
                <a:off x="1189820" y="1211854"/>
                <a:ext cx="12338891" cy="6186309"/>
              </a:xfrm>
              <a:prstGeom prst="rect">
                <a:avLst/>
              </a:prstGeom>
              <a:blipFill>
                <a:blip r:embed="rId3"/>
                <a:stretch>
                  <a:fillRect l="-296" t="-591" r="-49" b="-591"/>
                </a:stretch>
              </a:blipFill>
            </p:spPr>
            <p:txBody>
              <a:bodyPr/>
              <a:lstStyle/>
              <a:p>
                <a:r>
                  <a:rPr lang="en-US">
                    <a:noFill/>
                  </a:rPr>
                  <a:t> </a:t>
                </a:r>
              </a:p>
            </p:txBody>
          </p:sp>
        </mc:Fallback>
      </mc:AlternateContent>
      <p:sp>
        <p:nvSpPr>
          <p:cNvPr id="2" name="TextBox 1">
            <a:extLst>
              <a:ext uri="{FF2B5EF4-FFF2-40B4-BE49-F238E27FC236}">
                <a16:creationId xmlns:a16="http://schemas.microsoft.com/office/drawing/2014/main" id="{0EB0A1F7-3FFC-63A7-29CC-175E8DBA35D7}"/>
              </a:ext>
            </a:extLst>
          </p:cNvPr>
          <p:cNvSpPr txBox="1"/>
          <p:nvPr/>
        </p:nvSpPr>
        <p:spPr>
          <a:xfrm>
            <a:off x="609072" y="566227"/>
            <a:ext cx="2134126" cy="461665"/>
          </a:xfrm>
          <a:prstGeom prst="rect">
            <a:avLst/>
          </a:prstGeom>
          <a:noFill/>
        </p:spPr>
        <p:txBody>
          <a:bodyPr wrap="square" rtlCol="0">
            <a:spAutoFit/>
          </a:bodyPr>
          <a:lstStyle/>
          <a:p>
            <a:r>
              <a:rPr lang="es-ES" sz="2400" dirty="0">
                <a:latin typeface="Source Sans 3" panose="020B0604020202020204" charset="0"/>
              </a:rPr>
              <a:t>Ventajas</a:t>
            </a:r>
            <a:endParaRPr lang="en-US" dirty="0">
              <a:latin typeface="Source Sans 3" panose="020B0604020202020204" charset="0"/>
            </a:endParaRPr>
          </a:p>
        </p:txBody>
      </p:sp>
      <p:sp>
        <p:nvSpPr>
          <p:cNvPr id="3" name="Shape 3">
            <a:extLst>
              <a:ext uri="{FF2B5EF4-FFF2-40B4-BE49-F238E27FC236}">
                <a16:creationId xmlns:a16="http://schemas.microsoft.com/office/drawing/2014/main" id="{44225EE2-A485-F61E-DDD6-27A080DF8CBE}"/>
              </a:ext>
            </a:extLst>
          </p:cNvPr>
          <p:cNvSpPr/>
          <p:nvPr/>
        </p:nvSpPr>
        <p:spPr>
          <a:xfrm>
            <a:off x="763310" y="4518259"/>
            <a:ext cx="121920" cy="2776486"/>
          </a:xfrm>
          <a:prstGeom prst="roundRect">
            <a:avLst>
              <a:gd name="adj" fmla="val 27907"/>
            </a:avLst>
          </a:prstGeom>
          <a:solidFill>
            <a:srgbClr val="325F7B"/>
          </a:solidFill>
          <a:ln/>
        </p:spPr>
        <p:txBody>
          <a:bodyPr/>
          <a:lstStyle/>
          <a:p>
            <a:endParaRPr lang="es-ES" noProof="0" dirty="0"/>
          </a:p>
        </p:txBody>
      </p:sp>
    </p:spTree>
    <p:extLst>
      <p:ext uri="{BB962C8B-B14F-4D97-AF65-F5344CB8AC3E}">
        <p14:creationId xmlns:p14="http://schemas.microsoft.com/office/powerpoint/2010/main" val="50736934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9AE134-004E-5D50-7FCB-F727ECC880BB}"/>
            </a:ext>
          </a:extLst>
        </p:cNvPr>
        <p:cNvGrpSpPr/>
        <p:nvPr/>
      </p:nvGrpSpPr>
      <p:grpSpPr>
        <a:xfrm>
          <a:off x="0" y="0"/>
          <a:ext cx="0" cy="0"/>
          <a:chOff x="0" y="0"/>
          <a:chExt cx="0" cy="0"/>
        </a:xfrm>
      </p:grpSpPr>
      <p:sp>
        <p:nvSpPr>
          <p:cNvPr id="5" name="Shape 3">
            <a:extLst>
              <a:ext uri="{FF2B5EF4-FFF2-40B4-BE49-F238E27FC236}">
                <a16:creationId xmlns:a16="http://schemas.microsoft.com/office/drawing/2014/main" id="{8C29F0E1-E012-81A3-55E6-FA47C14E2F7B}"/>
              </a:ext>
            </a:extLst>
          </p:cNvPr>
          <p:cNvSpPr/>
          <p:nvPr/>
        </p:nvSpPr>
        <p:spPr>
          <a:xfrm>
            <a:off x="763310" y="1211854"/>
            <a:ext cx="121920" cy="4834016"/>
          </a:xfrm>
          <a:prstGeom prst="roundRect">
            <a:avLst>
              <a:gd name="adj" fmla="val 27907"/>
            </a:avLst>
          </a:prstGeom>
          <a:solidFill>
            <a:srgbClr val="325F7B"/>
          </a:solidFill>
          <a:ln/>
        </p:spPr>
        <p:txBody>
          <a:bodyPr/>
          <a:lstStyle/>
          <a:p>
            <a:endParaRPr lang="es-ES" noProof="0" dirty="0"/>
          </a:p>
        </p:txBody>
      </p:sp>
      <mc:AlternateContent xmlns:mc="http://schemas.openxmlformats.org/markup-compatibility/2006">
        <mc:Choice xmlns:a14="http://schemas.microsoft.com/office/drawing/2010/main" Requires="a14">
          <p:sp>
            <p:nvSpPr>
              <p:cNvPr id="19" name="TextBox 18">
                <a:extLst>
                  <a:ext uri="{FF2B5EF4-FFF2-40B4-BE49-F238E27FC236}">
                    <a16:creationId xmlns:a16="http://schemas.microsoft.com/office/drawing/2014/main" id="{B50FB458-DE30-A97D-56F8-130C235734E2}"/>
                  </a:ext>
                </a:extLst>
              </p:cNvPr>
              <p:cNvSpPr txBox="1"/>
              <p:nvPr/>
            </p:nvSpPr>
            <p:spPr>
              <a:xfrm>
                <a:off x="1189820" y="1211854"/>
                <a:ext cx="12338891" cy="4834016"/>
              </a:xfrm>
              <a:prstGeom prst="rect">
                <a:avLst/>
              </a:prstGeom>
              <a:noFill/>
            </p:spPr>
            <p:txBody>
              <a:bodyPr wrap="square" rtlCol="0">
                <a:spAutoFit/>
              </a:bodyPr>
              <a:lstStyle/>
              <a:p>
                <a:pPr marL="285750" indent="-285750">
                  <a:buFont typeface="Arial" panose="020B0604020202020204" pitchFamily="34" charset="0"/>
                  <a:buChar char="•"/>
                </a:pPr>
                <a:r>
                  <a:rPr lang="es-ES" dirty="0"/>
                  <a:t>Método de regresión en la cual se trata a los parámetros como variables aleatorias, para los cuales se asume una distribución de probabilidad basada en el conocimiento previo del investigador, también llamada </a:t>
                </a:r>
                <a:r>
                  <a:rPr lang="es-ES" i="1" dirty="0"/>
                  <a:t>prior</a:t>
                </a:r>
                <a:r>
                  <a:rPr lang="es-ES" dirty="0"/>
                  <a:t>. Estas distribuciones a priori generan distribuciones </a:t>
                </a:r>
                <a:r>
                  <a:rPr lang="es-ES" i="1" dirty="0"/>
                  <a:t>posterior,</a:t>
                </a:r>
                <a:r>
                  <a:rPr lang="es-ES" dirty="0"/>
                  <a:t> que implican una actualización de las </a:t>
                </a:r>
                <a:r>
                  <a:rPr lang="es-ES" i="1" dirty="0" err="1"/>
                  <a:t>priors</a:t>
                </a:r>
                <a:r>
                  <a:rPr lang="es-ES" dirty="0"/>
                  <a:t> en base a los datos observados. </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s-ES" dirty="0"/>
                  <a:t>Contraste con OLS clásico, donde los parámetros eran considerados desconocidos y fijos, la inferencia estadística (estimación puntual, varianza, IC, </a:t>
                </a:r>
                <a:r>
                  <a:rPr lang="es-ES" dirty="0" err="1"/>
                  <a:t>tests</a:t>
                </a:r>
                <a:r>
                  <a:rPr lang="es-ES" dirty="0"/>
                  <a:t>) se realiza considerando la distribución muestral del estimador alrededor del parámetro poblacional fijo.</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s-ES" dirty="0"/>
                  <a:t>La </a:t>
                </a:r>
                <a:r>
                  <a:rPr lang="es-ES" i="1" dirty="0"/>
                  <a:t>posterior</a:t>
                </a:r>
                <a:r>
                  <a:rPr lang="es-ES" dirty="0"/>
                  <a:t> bayesiana surgirá de combinar: i) nuestro conocimiento previo en la materia </a:t>
                </a:r>
                <a:r>
                  <a:rPr lang="es-ES" i="1" dirty="0"/>
                  <a:t>(prior), </a:t>
                </a:r>
                <a:r>
                  <a:rPr lang="es-ES" i="1" dirty="0" err="1"/>
                  <a:t>ii</a:t>
                </a:r>
                <a:r>
                  <a:rPr lang="es-ES" i="1" dirty="0"/>
                  <a:t>) l</a:t>
                </a:r>
                <a:r>
                  <a:rPr lang="es-ES" dirty="0"/>
                  <a:t>o que dicen los datos a través del modelo (</a:t>
                </a:r>
                <a:r>
                  <a:rPr lang="es-ES" i="1" dirty="0" err="1"/>
                  <a:t>likelihood</a:t>
                </a:r>
                <a:r>
                  <a:rPr lang="es-ES" i="1" dirty="0"/>
                  <a:t>)</a:t>
                </a:r>
                <a:endParaRPr lang="en-US" dirty="0"/>
              </a:p>
              <a:p>
                <a:pPr marL="285750" indent="-285750">
                  <a:buFont typeface="Arial" panose="020B0604020202020204" pitchFamily="34" charset="0"/>
                  <a:buChar char="•"/>
                </a:pPr>
                <a:r>
                  <a:rPr lang="es-ES" dirty="0"/>
                  <a:t>La idea fundamental viene del Teorema de Bayes:</a:t>
                </a:r>
                <a:endParaRPr lang="en-US" dirty="0"/>
              </a:p>
              <a:p>
                <a:pPr/>
                <a14:m>
                  <m:oMathPara xmlns:m="http://schemas.openxmlformats.org/officeDocument/2006/math">
                    <m:oMathParaPr>
                      <m:jc m:val="centerGroup"/>
                    </m:oMathParaPr>
                    <m:oMath xmlns:m="http://schemas.openxmlformats.org/officeDocument/2006/math">
                      <m:r>
                        <a:rPr lang="es-ES" i="1">
                          <a:latin typeface="Cambria Math" panose="02040503050406030204" pitchFamily="18" charset="0"/>
                        </a:rPr>
                        <m:t>𝑝</m:t>
                      </m:r>
                      <m:d>
                        <m:dPr>
                          <m:ctrlPr>
                            <a:rPr lang="en-US" i="1">
                              <a:latin typeface="Cambria Math" panose="02040503050406030204" pitchFamily="18" charset="0"/>
                            </a:rPr>
                          </m:ctrlPr>
                        </m:dPr>
                        <m:e>
                          <m:r>
                            <a:rPr lang="es-ES" i="1">
                              <a:latin typeface="Cambria Math" panose="02040503050406030204" pitchFamily="18" charset="0"/>
                            </a:rPr>
                            <m:t>𝜃</m:t>
                          </m:r>
                        </m:e>
                        <m:e>
                          <m:r>
                            <a:rPr lang="es-ES" i="1">
                              <a:latin typeface="Cambria Math" panose="02040503050406030204" pitchFamily="18" charset="0"/>
                            </a:rPr>
                            <m:t>𝑦</m:t>
                          </m:r>
                          <m:r>
                            <a:rPr lang="es-ES" i="1">
                              <a:latin typeface="Cambria Math" panose="02040503050406030204" pitchFamily="18" charset="0"/>
                            </a:rPr>
                            <m:t>,</m:t>
                          </m:r>
                          <m:r>
                            <a:rPr lang="es-ES" i="1">
                              <a:latin typeface="Cambria Math" panose="02040503050406030204" pitchFamily="18" charset="0"/>
                            </a:rPr>
                            <m:t>𝑋</m:t>
                          </m:r>
                        </m:e>
                      </m:d>
                      <m:r>
                        <a:rPr lang="es-ES" i="1">
                          <a:latin typeface="Cambria Math" panose="02040503050406030204" pitchFamily="18" charset="0"/>
                        </a:rPr>
                        <m:t>=</m:t>
                      </m:r>
                      <m:f>
                        <m:fPr>
                          <m:ctrlPr>
                            <a:rPr lang="en-US" i="1">
                              <a:latin typeface="Cambria Math" panose="02040503050406030204" pitchFamily="18" charset="0"/>
                            </a:rPr>
                          </m:ctrlPr>
                        </m:fPr>
                        <m:num>
                          <m:r>
                            <a:rPr lang="es-ES" i="1">
                              <a:latin typeface="Cambria Math" panose="02040503050406030204" pitchFamily="18" charset="0"/>
                            </a:rPr>
                            <m:t>𝑝</m:t>
                          </m:r>
                          <m:d>
                            <m:dPr>
                              <m:ctrlPr>
                                <a:rPr lang="en-US" i="1">
                                  <a:latin typeface="Cambria Math" panose="02040503050406030204" pitchFamily="18" charset="0"/>
                                </a:rPr>
                              </m:ctrlPr>
                            </m:dPr>
                            <m:e>
                              <m:r>
                                <a:rPr lang="es-ES" i="1">
                                  <a:latin typeface="Cambria Math" panose="02040503050406030204" pitchFamily="18" charset="0"/>
                                </a:rPr>
                                <m:t>𝜃</m:t>
                              </m:r>
                            </m:e>
                          </m:d>
                          <m:r>
                            <a:rPr lang="es-ES" i="1">
                              <a:latin typeface="Cambria Math" panose="02040503050406030204" pitchFamily="18" charset="0"/>
                            </a:rPr>
                            <m:t>𝑝</m:t>
                          </m:r>
                          <m:d>
                            <m:dPr>
                              <m:ctrlPr>
                                <a:rPr lang="en-US" i="1">
                                  <a:latin typeface="Cambria Math" panose="02040503050406030204" pitchFamily="18" charset="0"/>
                                </a:rPr>
                              </m:ctrlPr>
                            </m:dPr>
                            <m:e>
                              <m:r>
                                <a:rPr lang="es-ES" i="1">
                                  <a:latin typeface="Cambria Math" panose="02040503050406030204" pitchFamily="18" charset="0"/>
                                </a:rPr>
                                <m:t>𝑦</m:t>
                              </m:r>
                            </m:e>
                            <m:e>
                              <m:r>
                                <a:rPr lang="es-ES" i="1">
                                  <a:latin typeface="Cambria Math" panose="02040503050406030204" pitchFamily="18" charset="0"/>
                                </a:rPr>
                                <m:t>𝑋</m:t>
                              </m:r>
                              <m:r>
                                <a:rPr lang="es-ES" i="1">
                                  <a:latin typeface="Cambria Math" panose="02040503050406030204" pitchFamily="18" charset="0"/>
                                </a:rPr>
                                <m:t>,</m:t>
                              </m:r>
                              <m:r>
                                <a:rPr lang="es-ES" i="1">
                                  <a:latin typeface="Cambria Math" panose="02040503050406030204" pitchFamily="18" charset="0"/>
                                </a:rPr>
                                <m:t>𝜃</m:t>
                              </m:r>
                            </m:e>
                          </m:d>
                        </m:num>
                        <m:den>
                          <m:r>
                            <a:rPr lang="es-ES" i="1">
                              <a:latin typeface="Cambria Math" panose="02040503050406030204" pitchFamily="18" charset="0"/>
                            </a:rPr>
                            <m:t>𝑝</m:t>
                          </m:r>
                          <m:r>
                            <a:rPr lang="es-ES" i="1">
                              <a:latin typeface="Cambria Math" panose="02040503050406030204" pitchFamily="18" charset="0"/>
                            </a:rPr>
                            <m:t>(</m:t>
                          </m:r>
                          <m:r>
                            <a:rPr lang="es-ES" i="1">
                              <a:latin typeface="Cambria Math" panose="02040503050406030204" pitchFamily="18" charset="0"/>
                            </a:rPr>
                            <m:t>𝑦</m:t>
                          </m:r>
                          <m:r>
                            <a:rPr lang="es-ES" i="1">
                              <a:latin typeface="Cambria Math" panose="02040503050406030204" pitchFamily="18" charset="0"/>
                            </a:rPr>
                            <m:t>|</m:t>
                          </m:r>
                          <m:r>
                            <a:rPr lang="es-ES" i="1">
                              <a:latin typeface="Cambria Math" panose="02040503050406030204" pitchFamily="18" charset="0"/>
                            </a:rPr>
                            <m:t>𝑋</m:t>
                          </m:r>
                          <m:r>
                            <a:rPr lang="es-ES" i="1">
                              <a:latin typeface="Cambria Math" panose="02040503050406030204" pitchFamily="18" charset="0"/>
                            </a:rPr>
                            <m:t>)</m:t>
                          </m:r>
                        </m:den>
                      </m:f>
                    </m:oMath>
                  </m:oMathPara>
                </a14:m>
                <a:endParaRPr lang="en-US" dirty="0"/>
              </a:p>
              <a:p>
                <a:r>
                  <a:rPr lang="es-ES" dirty="0"/>
                  <a:t>Donde,:</a:t>
                </a:r>
                <a:endParaRPr lang="en-US" dirty="0"/>
              </a:p>
              <a:p>
                <a:pPr marL="285750" lvl="0" indent="-285750">
                  <a:buFont typeface="Arial" panose="020B0604020202020204" pitchFamily="34" charset="0"/>
                  <a:buChar char="•"/>
                </a:pPr>
                <a14:m>
                  <m:oMath xmlns:m="http://schemas.openxmlformats.org/officeDocument/2006/math">
                    <m:r>
                      <a:rPr lang="es-ES" i="1">
                        <a:latin typeface="Cambria Math" panose="02040503050406030204" pitchFamily="18" charset="0"/>
                      </a:rPr>
                      <m:t>𝜃</m:t>
                    </m:r>
                  </m:oMath>
                </a14:m>
                <a:r>
                  <a:rPr lang="es-ES" dirty="0"/>
                  <a:t>: Vector de parámetro a estimar.</a:t>
                </a:r>
                <a:endParaRPr lang="en-US" dirty="0"/>
              </a:p>
              <a:p>
                <a:pPr marL="285750" lvl="0" indent="-285750">
                  <a:buFont typeface="Arial" panose="020B0604020202020204" pitchFamily="34" charset="0"/>
                  <a:buChar char="•"/>
                </a:pPr>
                <a14:m>
                  <m:oMath xmlns:m="http://schemas.openxmlformats.org/officeDocument/2006/math">
                    <m:r>
                      <a:rPr lang="es-ES" i="1">
                        <a:latin typeface="Cambria Math" panose="02040503050406030204" pitchFamily="18" charset="0"/>
                      </a:rPr>
                      <m:t>𝑋</m:t>
                    </m:r>
                  </m:oMath>
                </a14:m>
                <a:r>
                  <a:rPr lang="es-ES" dirty="0"/>
                  <a:t>: Vector de variables independientes.</a:t>
                </a:r>
                <a:endParaRPr lang="en-US" dirty="0"/>
              </a:p>
              <a:p>
                <a:pPr marL="285750" lvl="0" indent="-285750">
                  <a:buFont typeface="Arial" panose="020B0604020202020204" pitchFamily="34" charset="0"/>
                  <a:buChar char="•"/>
                </a:pPr>
                <a14:m>
                  <m:oMath xmlns:m="http://schemas.openxmlformats.org/officeDocument/2006/math">
                    <m:r>
                      <a:rPr lang="es-ES" i="1">
                        <a:latin typeface="Cambria Math" panose="02040503050406030204" pitchFamily="18" charset="0"/>
                      </a:rPr>
                      <m:t>𝑦</m:t>
                    </m:r>
                  </m:oMath>
                </a14:m>
                <a:r>
                  <a:rPr lang="es-ES" dirty="0"/>
                  <a:t>: Variable dependiente</a:t>
                </a:r>
                <a:endParaRPr lang="en-US" dirty="0"/>
              </a:p>
            </p:txBody>
          </p:sp>
        </mc:Choice>
        <mc:Fallback>
          <p:sp>
            <p:nvSpPr>
              <p:cNvPr id="19" name="TextBox 18">
                <a:extLst>
                  <a:ext uri="{FF2B5EF4-FFF2-40B4-BE49-F238E27FC236}">
                    <a16:creationId xmlns:a16="http://schemas.microsoft.com/office/drawing/2014/main" id="{B50FB458-DE30-A97D-56F8-130C235734E2}"/>
                  </a:ext>
                </a:extLst>
              </p:cNvPr>
              <p:cNvSpPr txBox="1">
                <a:spLocks noRot="1" noChangeAspect="1" noMove="1" noResize="1" noEditPoints="1" noAdjustHandles="1" noChangeArrowheads="1" noChangeShapeType="1" noTextEdit="1"/>
              </p:cNvSpPr>
              <p:nvPr/>
            </p:nvSpPr>
            <p:spPr>
              <a:xfrm>
                <a:off x="1189820" y="1211854"/>
                <a:ext cx="12338891" cy="4834016"/>
              </a:xfrm>
              <a:prstGeom prst="rect">
                <a:avLst/>
              </a:prstGeom>
              <a:blipFill>
                <a:blip r:embed="rId3"/>
                <a:stretch>
                  <a:fillRect l="-395" t="-757" r="-148" b="-1135"/>
                </a:stretch>
              </a:blipFill>
            </p:spPr>
            <p:txBody>
              <a:bodyPr/>
              <a:lstStyle/>
              <a:p>
                <a:r>
                  <a:rPr lang="en-US">
                    <a:noFill/>
                  </a:rPr>
                  <a:t> </a:t>
                </a:r>
              </a:p>
            </p:txBody>
          </p:sp>
        </mc:Fallback>
      </mc:AlternateContent>
      <p:sp>
        <p:nvSpPr>
          <p:cNvPr id="2" name="TextBox 1">
            <a:extLst>
              <a:ext uri="{FF2B5EF4-FFF2-40B4-BE49-F238E27FC236}">
                <a16:creationId xmlns:a16="http://schemas.microsoft.com/office/drawing/2014/main" id="{A48D28F1-7F76-A008-D5E6-DF5C4500AB94}"/>
              </a:ext>
            </a:extLst>
          </p:cNvPr>
          <p:cNvSpPr txBox="1"/>
          <p:nvPr/>
        </p:nvSpPr>
        <p:spPr>
          <a:xfrm>
            <a:off x="609072" y="566227"/>
            <a:ext cx="3202764" cy="461665"/>
          </a:xfrm>
          <a:prstGeom prst="rect">
            <a:avLst/>
          </a:prstGeom>
          <a:noFill/>
        </p:spPr>
        <p:txBody>
          <a:bodyPr wrap="square" rtlCol="0">
            <a:spAutoFit/>
          </a:bodyPr>
          <a:lstStyle/>
          <a:p>
            <a:r>
              <a:rPr lang="es-ES" sz="2400" dirty="0">
                <a:latin typeface="Source Sans 3" panose="020B0604020202020204" charset="0"/>
              </a:rPr>
              <a:t>Regresión Bayesiana</a:t>
            </a:r>
            <a:endParaRPr lang="en-US" dirty="0">
              <a:latin typeface="Source Sans 3" panose="020B0604020202020204" charset="0"/>
            </a:endParaRPr>
          </a:p>
        </p:txBody>
      </p:sp>
    </p:spTree>
    <p:extLst>
      <p:ext uri="{BB962C8B-B14F-4D97-AF65-F5344CB8AC3E}">
        <p14:creationId xmlns:p14="http://schemas.microsoft.com/office/powerpoint/2010/main" val="6536424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47F1CD-9F4F-A896-C5C9-A9EBDF5AB580}"/>
            </a:ext>
          </a:extLst>
        </p:cNvPr>
        <p:cNvGrpSpPr/>
        <p:nvPr/>
      </p:nvGrpSpPr>
      <p:grpSpPr>
        <a:xfrm>
          <a:off x="0" y="0"/>
          <a:ext cx="0" cy="0"/>
          <a:chOff x="0" y="0"/>
          <a:chExt cx="0" cy="0"/>
        </a:xfrm>
      </p:grpSpPr>
      <p:sp>
        <p:nvSpPr>
          <p:cNvPr id="5" name="Shape 3">
            <a:extLst>
              <a:ext uri="{FF2B5EF4-FFF2-40B4-BE49-F238E27FC236}">
                <a16:creationId xmlns:a16="http://schemas.microsoft.com/office/drawing/2014/main" id="{9A147A45-4181-8341-27A7-781AF46CD481}"/>
              </a:ext>
            </a:extLst>
          </p:cNvPr>
          <p:cNvSpPr/>
          <p:nvPr/>
        </p:nvSpPr>
        <p:spPr>
          <a:xfrm>
            <a:off x="763310" y="1211854"/>
            <a:ext cx="121920" cy="5244030"/>
          </a:xfrm>
          <a:prstGeom prst="roundRect">
            <a:avLst>
              <a:gd name="adj" fmla="val 27907"/>
            </a:avLst>
          </a:prstGeom>
          <a:solidFill>
            <a:srgbClr val="325F7B"/>
          </a:solidFill>
          <a:ln/>
        </p:spPr>
        <p:txBody>
          <a:bodyPr/>
          <a:lstStyle/>
          <a:p>
            <a:endParaRPr lang="es-ES" noProof="0" dirty="0"/>
          </a:p>
        </p:txBody>
      </p:sp>
      <mc:AlternateContent xmlns:mc="http://schemas.openxmlformats.org/markup-compatibility/2006">
        <mc:Choice xmlns:a14="http://schemas.microsoft.com/office/drawing/2010/main" Requires="a14">
          <p:sp>
            <p:nvSpPr>
              <p:cNvPr id="19" name="TextBox 18">
                <a:extLst>
                  <a:ext uri="{FF2B5EF4-FFF2-40B4-BE49-F238E27FC236}">
                    <a16:creationId xmlns:a16="http://schemas.microsoft.com/office/drawing/2014/main" id="{EC3B19ED-47A3-4201-0746-2E136227EB88}"/>
                  </a:ext>
                </a:extLst>
              </p:cNvPr>
              <p:cNvSpPr txBox="1"/>
              <p:nvPr/>
            </p:nvSpPr>
            <p:spPr>
              <a:xfrm>
                <a:off x="1189820" y="1211854"/>
                <a:ext cx="12338891" cy="5404813"/>
              </a:xfrm>
              <a:prstGeom prst="rect">
                <a:avLst/>
              </a:prstGeom>
              <a:noFill/>
            </p:spPr>
            <p:txBody>
              <a:bodyPr wrap="square" rtlCol="0">
                <a:spAutoFit/>
              </a:bodyPr>
              <a:lstStyle/>
              <a:p>
                <a:pPr marL="285750" indent="-285750">
                  <a:buFont typeface="Arial" panose="020B0604020202020204" pitchFamily="34" charset="0"/>
                  <a:buChar char="•"/>
                </a:pPr>
                <a:r>
                  <a:rPr lang="es-ES" dirty="0"/>
                  <a:t>Con esto podemos construir el modelo lineal simple de regresión bayesiana:</a:t>
                </a:r>
                <a:endParaRPr lang="en-US" dirty="0"/>
              </a:p>
              <a:p>
                <a:endParaRPr lang="es-ES" i="1" dirty="0"/>
              </a:p>
              <a:p>
                <a:pPr/>
                <a14:m>
                  <m:oMathPara xmlns:m="http://schemas.openxmlformats.org/officeDocument/2006/math">
                    <m:oMathParaPr>
                      <m:jc m:val="centerGroup"/>
                    </m:oMathParaPr>
                    <m:oMath xmlns:m="http://schemas.openxmlformats.org/officeDocument/2006/math">
                      <m:r>
                        <a:rPr lang="es-ES" i="1">
                          <a:latin typeface="Cambria Math" panose="02040503050406030204" pitchFamily="18" charset="0"/>
                        </a:rPr>
                        <m:t>𝑦</m:t>
                      </m:r>
                      <m:r>
                        <a:rPr lang="es-ES" i="1">
                          <a:latin typeface="Cambria Math" panose="02040503050406030204" pitchFamily="18" charset="0"/>
                        </a:rPr>
                        <m:t>=</m:t>
                      </m:r>
                      <m:r>
                        <a:rPr lang="es-ES" i="1">
                          <a:latin typeface="Cambria Math" panose="02040503050406030204" pitchFamily="18" charset="0"/>
                        </a:rPr>
                        <m:t>𝛼</m:t>
                      </m:r>
                      <m:r>
                        <a:rPr lang="es-ES" i="1">
                          <a:latin typeface="Cambria Math" panose="02040503050406030204" pitchFamily="18" charset="0"/>
                        </a:rPr>
                        <m:t>+</m:t>
                      </m:r>
                      <m:r>
                        <a:rPr lang="es-ES" i="1">
                          <a:latin typeface="Cambria Math" panose="02040503050406030204" pitchFamily="18" charset="0"/>
                        </a:rPr>
                        <m:t>𝛽</m:t>
                      </m:r>
                      <m:r>
                        <a:rPr lang="es-ES" i="1">
                          <a:latin typeface="Cambria Math" panose="02040503050406030204" pitchFamily="18" charset="0"/>
                        </a:rPr>
                        <m:t>𝑥</m:t>
                      </m:r>
                      <m:r>
                        <a:rPr lang="es-ES">
                          <a:latin typeface="Cambria Math" panose="02040503050406030204" pitchFamily="18" charset="0"/>
                        </a:rPr>
                        <m:t>+</m:t>
                      </m:r>
                      <m:r>
                        <m:rPr>
                          <m:sty m:val="p"/>
                        </m:rPr>
                        <a:rPr lang="es-ES">
                          <a:latin typeface="Cambria Math" panose="02040503050406030204" pitchFamily="18" charset="0"/>
                        </a:rPr>
                        <m:t>ε</m:t>
                      </m:r>
                      <m:r>
                        <a:rPr lang="es-ES">
                          <a:latin typeface="Cambria Math" panose="02040503050406030204" pitchFamily="18" charset="0"/>
                        </a:rPr>
                        <m:t>,       </m:t>
                      </m:r>
                      <m:r>
                        <m:rPr>
                          <m:sty m:val="p"/>
                        </m:rPr>
                        <a:rPr lang="es-ES">
                          <a:latin typeface="Cambria Math" panose="02040503050406030204" pitchFamily="18" charset="0"/>
                        </a:rPr>
                        <m:t>E</m:t>
                      </m:r>
                      <m:d>
                        <m:dPr>
                          <m:ctrlPr>
                            <a:rPr lang="en-US" i="1">
                              <a:latin typeface="Cambria Math" panose="02040503050406030204" pitchFamily="18" charset="0"/>
                            </a:rPr>
                          </m:ctrlPr>
                        </m:dPr>
                        <m:e>
                          <m:r>
                            <m:rPr>
                              <m:sty m:val="p"/>
                            </m:rPr>
                            <a:rPr lang="es-ES">
                              <a:latin typeface="Cambria Math" panose="02040503050406030204" pitchFamily="18" charset="0"/>
                            </a:rPr>
                            <m:t>ε</m:t>
                          </m:r>
                        </m:e>
                        <m:e>
                          <m:r>
                            <m:rPr>
                              <m:sty m:val="p"/>
                            </m:rPr>
                            <a:rPr lang="es-ES">
                              <a:latin typeface="Cambria Math" panose="02040503050406030204" pitchFamily="18" charset="0"/>
                            </a:rPr>
                            <m:t>x</m:t>
                          </m:r>
                        </m:e>
                      </m:d>
                      <m:r>
                        <a:rPr lang="es-ES">
                          <a:latin typeface="Cambria Math" panose="02040503050406030204" pitchFamily="18" charset="0"/>
                        </a:rPr>
                        <m:t>=0</m:t>
                      </m:r>
                    </m:oMath>
                  </m:oMathPara>
                </a14:m>
                <a:endParaRPr lang="en-US" dirty="0"/>
              </a:p>
              <a:p>
                <a:endParaRPr lang="en-US" dirty="0"/>
              </a:p>
              <a:p>
                <a:pPr marL="285750" indent="-285750">
                  <a:buFont typeface="Arial" panose="020B0604020202020204" pitchFamily="34" charset="0"/>
                  <a:buChar char="•"/>
                </a:pPr>
                <a:r>
                  <a:rPr lang="es-ES" dirty="0"/>
                  <a:t>En el enfoque bayesiano especificamos:</a:t>
                </a:r>
                <a:endParaRPr lang="en-US" dirty="0"/>
              </a:p>
              <a:p>
                <a:pPr marL="285750" lvl="0" indent="-285750">
                  <a:buFont typeface="Arial" panose="020B0604020202020204" pitchFamily="34" charset="0"/>
                  <a:buChar char="•"/>
                </a:pPr>
                <a:r>
                  <a:rPr lang="en-US" b="1" dirty="0"/>
                  <a:t>Likelihood:</a:t>
                </a:r>
                <a:r>
                  <a:rPr lang="en-US" dirty="0"/>
                  <a:t> </a:t>
                </a:r>
                <a14:m>
                  <m:oMath xmlns:m="http://schemas.openxmlformats.org/officeDocument/2006/math">
                    <m:r>
                      <a:rPr lang="es-ES" i="1">
                        <a:latin typeface="Cambria Math" panose="02040503050406030204" pitchFamily="18" charset="0"/>
                      </a:rPr>
                      <m:t>𝑦</m:t>
                    </m:r>
                    <m:r>
                      <a:rPr lang="en-US" i="1">
                        <a:latin typeface="Cambria Math" panose="02040503050406030204" pitchFamily="18" charset="0"/>
                      </a:rPr>
                      <m:t>|</m:t>
                    </m:r>
                    <m:r>
                      <a:rPr lang="es-ES" i="1">
                        <a:latin typeface="Cambria Math" panose="02040503050406030204" pitchFamily="18" charset="0"/>
                      </a:rPr>
                      <m:t>𝛼</m:t>
                    </m:r>
                    <m:r>
                      <a:rPr lang="en-US" i="1">
                        <a:latin typeface="Cambria Math" panose="02040503050406030204" pitchFamily="18" charset="0"/>
                      </a:rPr>
                      <m:t>,</m:t>
                    </m:r>
                    <m:r>
                      <a:rPr lang="es-ES" i="1">
                        <a:latin typeface="Cambria Math" panose="02040503050406030204" pitchFamily="18" charset="0"/>
                      </a:rPr>
                      <m:t>𝑥</m:t>
                    </m:r>
                    <m:r>
                      <a:rPr lang="en-US" i="1">
                        <a:latin typeface="Cambria Math" panose="02040503050406030204" pitchFamily="18" charset="0"/>
                      </a:rPr>
                      <m:t>,</m:t>
                    </m:r>
                    <m:r>
                      <a:rPr lang="es-ES" i="1">
                        <a:latin typeface="Cambria Math" panose="02040503050406030204" pitchFamily="18" charset="0"/>
                      </a:rPr>
                      <m:t>𝛽</m:t>
                    </m:r>
                    <m:r>
                      <a:rPr lang="en-US" i="1">
                        <a:latin typeface="Cambria Math" panose="02040503050406030204" pitchFamily="18" charset="0"/>
                      </a:rPr>
                      <m:t>,</m:t>
                    </m:r>
                    <m:r>
                      <a:rPr lang="es-ES" i="1">
                        <a:latin typeface="Cambria Math" panose="02040503050406030204" pitchFamily="18" charset="0"/>
                      </a:rPr>
                      <m:t>𝜎</m:t>
                    </m:r>
                    <m:r>
                      <a:rPr lang="en-US" i="1">
                        <a:latin typeface="Cambria Math" panose="02040503050406030204" pitchFamily="18" charset="0"/>
                      </a:rPr>
                      <m:t>∼</m:t>
                    </m:r>
                    <m:r>
                      <a:rPr lang="es-ES" i="1">
                        <a:latin typeface="Cambria Math" panose="02040503050406030204" pitchFamily="18" charset="0"/>
                      </a:rPr>
                      <m:t>𝑁</m:t>
                    </m:r>
                    <m:r>
                      <a:rPr lang="en-US" i="1">
                        <a:latin typeface="Cambria Math" panose="02040503050406030204" pitchFamily="18" charset="0"/>
                      </a:rPr>
                      <m:t>(</m:t>
                    </m:r>
                    <m:r>
                      <a:rPr lang="es-ES" i="1">
                        <a:latin typeface="Cambria Math" panose="02040503050406030204" pitchFamily="18" charset="0"/>
                      </a:rPr>
                      <m:t>𝛼</m:t>
                    </m:r>
                    <m:r>
                      <a:rPr lang="en-US" i="1">
                        <a:latin typeface="Cambria Math" panose="02040503050406030204" pitchFamily="18" charset="0"/>
                      </a:rPr>
                      <m:t>+</m:t>
                    </m:r>
                    <m:r>
                      <a:rPr lang="es-ES" i="1">
                        <a:latin typeface="Cambria Math" panose="02040503050406030204" pitchFamily="18" charset="0"/>
                      </a:rPr>
                      <m:t>𝛽</m:t>
                    </m:r>
                    <m:r>
                      <a:rPr lang="es-ES" i="1">
                        <a:latin typeface="Cambria Math" panose="02040503050406030204" pitchFamily="18" charset="0"/>
                      </a:rPr>
                      <m:t>𝑥</m:t>
                    </m:r>
                    <m:r>
                      <a:rPr lang="en-US" i="1">
                        <a:latin typeface="Cambria Math" panose="02040503050406030204" pitchFamily="18" charset="0"/>
                      </a:rPr>
                      <m:t>, </m:t>
                    </m:r>
                    <m:r>
                      <a:rPr lang="es-ES" i="1">
                        <a:latin typeface="Cambria Math" panose="02040503050406030204" pitchFamily="18" charset="0"/>
                      </a:rPr>
                      <m:t>𝜎</m:t>
                    </m:r>
                    <m:r>
                      <a:rPr lang="en-US" i="1">
                        <a:latin typeface="Cambria Math" panose="02040503050406030204" pitchFamily="18" charset="0"/>
                      </a:rPr>
                      <m:t>)</m:t>
                    </m:r>
                  </m:oMath>
                </a14:m>
                <a:r>
                  <a:rPr lang="es-AR" dirty="0"/>
                  <a:t> </a:t>
                </a:r>
                <a:endParaRPr lang="en-US" dirty="0"/>
              </a:p>
              <a:p>
                <a:pPr marL="285750" lvl="0" indent="-285750">
                  <a:buFont typeface="Arial" panose="020B0604020202020204" pitchFamily="34" charset="0"/>
                  <a:buChar char="•"/>
                </a:pPr>
                <a:r>
                  <a:rPr lang="es-ES" b="1" dirty="0" err="1"/>
                  <a:t>Priors</a:t>
                </a:r>
                <a:r>
                  <a:rPr lang="es-ES" b="1" dirty="0"/>
                  <a:t>:</a:t>
                </a:r>
                <a:endParaRPr lang="en-US" b="1" dirty="0"/>
              </a:p>
              <a:p>
                <a:pPr marL="742950" lvl="1" indent="-285750">
                  <a:buFont typeface="Arial" panose="020B0604020202020204" pitchFamily="34" charset="0"/>
                  <a:buChar char="•"/>
                </a:pPr>
                <a14:m>
                  <m:oMath xmlns:m="http://schemas.openxmlformats.org/officeDocument/2006/math">
                    <m:r>
                      <a:rPr lang="en-US" i="1">
                        <a:latin typeface="Cambria Math" panose="02040503050406030204" pitchFamily="18" charset="0"/>
                      </a:rPr>
                      <m:t>𝛼</m:t>
                    </m:r>
                    <m:r>
                      <a:rPr lang="es-ES" i="1">
                        <a:latin typeface="Cambria Math" panose="02040503050406030204" pitchFamily="18" charset="0"/>
                      </a:rPr>
                      <m:t>∼</m:t>
                    </m:r>
                    <m:r>
                      <a:rPr lang="es-ES" i="1">
                        <a:latin typeface="Cambria Math" panose="02040503050406030204" pitchFamily="18" charset="0"/>
                      </a:rPr>
                      <m:t>𝑁</m:t>
                    </m:r>
                    <m:r>
                      <a:rPr lang="es-ES" i="1">
                        <a:latin typeface="Cambria Math" panose="02040503050406030204" pitchFamily="18" charset="0"/>
                      </a:rPr>
                      <m:t>( </m:t>
                    </m:r>
                    <m:sSub>
                      <m:sSubPr>
                        <m:ctrlPr>
                          <a:rPr lang="en-US" i="1">
                            <a:latin typeface="Cambria Math" panose="02040503050406030204" pitchFamily="18" charset="0"/>
                          </a:rPr>
                        </m:ctrlPr>
                      </m:sSubPr>
                      <m:e>
                        <m:r>
                          <a:rPr lang="es-ES" i="1">
                            <a:latin typeface="Cambria Math" panose="02040503050406030204" pitchFamily="18" charset="0"/>
                          </a:rPr>
                          <m:t>𝜇</m:t>
                        </m:r>
                      </m:e>
                      <m:sub>
                        <m:r>
                          <a:rPr lang="en-US" i="1">
                            <a:latin typeface="Cambria Math" panose="02040503050406030204" pitchFamily="18" charset="0"/>
                          </a:rPr>
                          <m:t>𝛼</m:t>
                        </m:r>
                      </m:sub>
                    </m:sSub>
                    <m:r>
                      <a:rPr lang="es-ES" i="1">
                        <a:latin typeface="Cambria Math" panose="02040503050406030204" pitchFamily="18" charset="0"/>
                      </a:rPr>
                      <m:t>, </m:t>
                    </m:r>
                    <m:sSub>
                      <m:sSubPr>
                        <m:ctrlPr>
                          <a:rPr lang="en-US" i="1">
                            <a:latin typeface="Cambria Math" panose="02040503050406030204" pitchFamily="18" charset="0"/>
                          </a:rPr>
                        </m:ctrlPr>
                      </m:sSubPr>
                      <m:e>
                        <m:r>
                          <a:rPr lang="es-ES" i="1">
                            <a:latin typeface="Cambria Math" panose="02040503050406030204" pitchFamily="18" charset="0"/>
                          </a:rPr>
                          <m:t>𝜎</m:t>
                        </m:r>
                      </m:e>
                      <m:sub>
                        <m:r>
                          <a:rPr lang="es-ES" i="1">
                            <a:latin typeface="Cambria Math" panose="02040503050406030204" pitchFamily="18" charset="0"/>
                          </a:rPr>
                          <m:t>𝛼</m:t>
                        </m:r>
                      </m:sub>
                    </m:sSub>
                    <m:r>
                      <a:rPr lang="es-ES" i="1">
                        <a:latin typeface="Cambria Math" panose="02040503050406030204" pitchFamily="18" charset="0"/>
                      </a:rPr>
                      <m:t>)</m:t>
                    </m:r>
                  </m:oMath>
                </a14:m>
                <a:r>
                  <a:rPr lang="es-ES" dirty="0"/>
                  <a:t> con prior arbitrariamente normal</a:t>
                </a:r>
                <a:endParaRPr lang="en-US" dirty="0"/>
              </a:p>
              <a:p>
                <a:pPr marL="742950" lvl="1" indent="-285750">
                  <a:buFont typeface="Arial" panose="020B0604020202020204" pitchFamily="34" charset="0"/>
                  <a:buChar char="•"/>
                </a:pPr>
                <a14:m>
                  <m:oMath xmlns:m="http://schemas.openxmlformats.org/officeDocument/2006/math">
                    <m:r>
                      <a:rPr lang="es-ES" i="1">
                        <a:latin typeface="Cambria Math" panose="02040503050406030204" pitchFamily="18" charset="0"/>
                      </a:rPr>
                      <m:t>𝛽</m:t>
                    </m:r>
                    <m:r>
                      <a:rPr lang="es-ES" i="1">
                        <a:latin typeface="Cambria Math" panose="02040503050406030204" pitchFamily="18" charset="0"/>
                      </a:rPr>
                      <m:t>∼</m:t>
                    </m:r>
                    <m:r>
                      <a:rPr lang="es-ES" i="1">
                        <a:latin typeface="Cambria Math" panose="02040503050406030204" pitchFamily="18" charset="0"/>
                      </a:rPr>
                      <m:t>𝑁</m:t>
                    </m:r>
                    <m:r>
                      <a:rPr lang="es-ES" i="1">
                        <a:latin typeface="Cambria Math" panose="02040503050406030204" pitchFamily="18" charset="0"/>
                      </a:rPr>
                      <m:t>( </m:t>
                    </m:r>
                    <m:sSub>
                      <m:sSubPr>
                        <m:ctrlPr>
                          <a:rPr lang="en-US" i="1">
                            <a:latin typeface="Cambria Math" panose="02040503050406030204" pitchFamily="18" charset="0"/>
                          </a:rPr>
                        </m:ctrlPr>
                      </m:sSubPr>
                      <m:e>
                        <m:r>
                          <a:rPr lang="es-ES" i="1">
                            <a:latin typeface="Cambria Math" panose="02040503050406030204" pitchFamily="18" charset="0"/>
                          </a:rPr>
                          <m:t>𝜇</m:t>
                        </m:r>
                      </m:e>
                      <m:sub>
                        <m:r>
                          <a:rPr lang="es-ES" i="1">
                            <a:latin typeface="Cambria Math" panose="02040503050406030204" pitchFamily="18" charset="0"/>
                          </a:rPr>
                          <m:t>𝛽</m:t>
                        </m:r>
                      </m:sub>
                    </m:sSub>
                    <m:r>
                      <a:rPr lang="es-ES" i="1">
                        <a:latin typeface="Cambria Math" panose="02040503050406030204" pitchFamily="18" charset="0"/>
                      </a:rPr>
                      <m:t>, </m:t>
                    </m:r>
                    <m:sSub>
                      <m:sSubPr>
                        <m:ctrlPr>
                          <a:rPr lang="en-US" i="1">
                            <a:latin typeface="Cambria Math" panose="02040503050406030204" pitchFamily="18" charset="0"/>
                          </a:rPr>
                        </m:ctrlPr>
                      </m:sSubPr>
                      <m:e>
                        <m:r>
                          <a:rPr lang="es-ES" i="1">
                            <a:latin typeface="Cambria Math" panose="02040503050406030204" pitchFamily="18" charset="0"/>
                          </a:rPr>
                          <m:t>𝜎</m:t>
                        </m:r>
                      </m:e>
                      <m:sub>
                        <m:r>
                          <a:rPr lang="es-ES" i="1">
                            <a:latin typeface="Cambria Math" panose="02040503050406030204" pitchFamily="18" charset="0"/>
                          </a:rPr>
                          <m:t>𝛽</m:t>
                        </m:r>
                      </m:sub>
                    </m:sSub>
                    <m:r>
                      <a:rPr lang="es-ES" i="1">
                        <a:latin typeface="Cambria Math" panose="02040503050406030204" pitchFamily="18" charset="0"/>
                      </a:rPr>
                      <m:t>)</m:t>
                    </m:r>
                  </m:oMath>
                </a14:m>
                <a:r>
                  <a:rPr lang="es-ES" dirty="0"/>
                  <a:t> con prior arbitrariamente normal</a:t>
                </a:r>
                <a:endParaRPr lang="en-US" dirty="0"/>
              </a:p>
              <a:p>
                <a:pPr marL="742950" lvl="1" indent="-285750">
                  <a:buFont typeface="Arial" panose="020B0604020202020204" pitchFamily="34" charset="0"/>
                  <a:buChar char="•"/>
                </a:pPr>
                <a14:m>
                  <m:oMath xmlns:m="http://schemas.openxmlformats.org/officeDocument/2006/math">
                    <m:r>
                      <a:rPr lang="es-ES" i="1">
                        <a:latin typeface="Cambria Math" panose="02040503050406030204" pitchFamily="18" charset="0"/>
                      </a:rPr>
                      <m:t>𝜎</m:t>
                    </m:r>
                    <m:r>
                      <a:rPr lang="es-ES" i="1">
                        <a:latin typeface="Cambria Math" panose="02040503050406030204" pitchFamily="18" charset="0"/>
                      </a:rPr>
                      <m:t>∼</m:t>
                    </m:r>
                    <m:r>
                      <a:rPr lang="es-ES" i="1">
                        <a:latin typeface="Cambria Math" panose="02040503050406030204" pitchFamily="18" charset="0"/>
                      </a:rPr>
                      <m:t>𝐸𝑥𝑝</m:t>
                    </m:r>
                    <m:r>
                      <a:rPr lang="es-ES" i="1">
                        <a:latin typeface="Cambria Math" panose="02040503050406030204" pitchFamily="18" charset="0"/>
                      </a:rPr>
                      <m:t>(</m:t>
                    </m:r>
                    <m:r>
                      <a:rPr lang="es-ES" i="1">
                        <a:latin typeface="Cambria Math" panose="02040503050406030204" pitchFamily="18" charset="0"/>
                      </a:rPr>
                      <m:t>𝜆</m:t>
                    </m:r>
                    <m:r>
                      <a:rPr lang="es-ES" i="1">
                        <a:latin typeface="Cambria Math" panose="02040503050406030204" pitchFamily="18" charset="0"/>
                      </a:rPr>
                      <m:t>)</m:t>
                    </m:r>
                  </m:oMath>
                </a14:m>
                <a:r>
                  <a:rPr lang="es-ES" dirty="0"/>
                  <a:t> con prior arbitrariamente exponencial</a:t>
                </a:r>
              </a:p>
              <a:p>
                <a:pPr lvl="1"/>
                <a:endParaRPr lang="en-US" dirty="0"/>
              </a:p>
              <a:p>
                <a:pPr marL="285750" lvl="0" indent="-285750">
                  <a:buFont typeface="Arial" panose="020B0604020202020204" pitchFamily="34" charset="0"/>
                  <a:buChar char="•"/>
                </a:pPr>
                <a:r>
                  <a:rPr lang="es-ES" dirty="0"/>
                  <a:t>Donde los parámetros de las distribuciones de las </a:t>
                </a:r>
                <a:r>
                  <a:rPr lang="es-ES" dirty="0" err="1"/>
                  <a:t>priors</a:t>
                </a:r>
                <a:r>
                  <a:rPr lang="es-ES" dirty="0"/>
                  <a:t> son propuestos por el investigador.</a:t>
                </a:r>
              </a:p>
              <a:p>
                <a:pPr marL="285750" lvl="0" indent="-285750">
                  <a:buFont typeface="Arial" panose="020B0604020202020204" pitchFamily="34" charset="0"/>
                  <a:buChar char="•"/>
                </a:pPr>
                <a:endParaRPr lang="en-US" dirty="0"/>
              </a:p>
              <a:p>
                <a:pPr marL="285750" indent="-285750">
                  <a:buFont typeface="Arial" panose="020B0604020202020204" pitchFamily="34" charset="0"/>
                  <a:buChar char="•"/>
                </a:pPr>
                <a:r>
                  <a:rPr lang="es-ES" dirty="0"/>
                  <a:t>A partir de la distribución observada de </a:t>
                </a:r>
                <a:r>
                  <a:rPr lang="es-ES" i="1" dirty="0"/>
                  <a:t>y</a:t>
                </a:r>
                <a:r>
                  <a:rPr lang="es-ES" dirty="0"/>
                  <a:t> </a:t>
                </a:r>
                <a:r>
                  <a:rPr lang="es-ES" dirty="0" err="1"/>
                  <a:t>y</a:t>
                </a:r>
                <a:r>
                  <a:rPr lang="es-ES" dirty="0"/>
                  <a:t> las </a:t>
                </a:r>
                <a:r>
                  <a:rPr lang="es-ES" dirty="0" err="1"/>
                  <a:t>priors</a:t>
                </a:r>
                <a:r>
                  <a:rPr lang="es-ES" dirty="0"/>
                  <a:t> se deducen las distribuciones </a:t>
                </a:r>
                <a:r>
                  <a:rPr lang="es-ES" i="1" dirty="0"/>
                  <a:t>posterior</a:t>
                </a:r>
                <a:r>
                  <a:rPr lang="es-ES" dirty="0"/>
                  <a:t> de los parámetros. Estas son:</a:t>
                </a:r>
                <a:endParaRPr lang="en-US" dirty="0"/>
              </a:p>
              <a:p>
                <a:pPr marL="285750" lvl="0" indent="-285750">
                  <a:buFont typeface="Arial" panose="020B0604020202020204" pitchFamily="34" charset="0"/>
                  <a:buChar char="•"/>
                </a:pPr>
                <a14:m>
                  <m:oMath xmlns:m="http://schemas.openxmlformats.org/officeDocument/2006/math">
                    <m:r>
                      <a:rPr lang="en-US" i="1">
                        <a:latin typeface="Cambria Math" panose="02040503050406030204" pitchFamily="18" charset="0"/>
                      </a:rPr>
                      <m:t>𝛼</m:t>
                    </m:r>
                    <m:r>
                      <a:rPr lang="es-ES" i="1">
                        <a:latin typeface="Cambria Math" panose="02040503050406030204" pitchFamily="18" charset="0"/>
                      </a:rPr>
                      <m:t>| </m:t>
                    </m:r>
                    <m:r>
                      <a:rPr lang="en-US" i="1">
                        <a:latin typeface="Cambria Math" panose="02040503050406030204" pitchFamily="18" charset="0"/>
                      </a:rPr>
                      <m:t>𝑦</m:t>
                    </m:r>
                    <m:r>
                      <a:rPr lang="es-ES" i="1">
                        <a:latin typeface="Cambria Math" panose="02040503050406030204" pitchFamily="18" charset="0"/>
                      </a:rPr>
                      <m:t>,</m:t>
                    </m:r>
                    <m:r>
                      <a:rPr lang="en-US" i="1">
                        <a:latin typeface="Cambria Math" panose="02040503050406030204" pitchFamily="18" charset="0"/>
                      </a:rPr>
                      <m:t>𝑥</m:t>
                    </m:r>
                    <m:r>
                      <a:rPr lang="es-ES" i="1">
                        <a:latin typeface="Cambria Math" panose="02040503050406030204" pitchFamily="18" charset="0"/>
                      </a:rPr>
                      <m:t>,</m:t>
                    </m:r>
                    <m:sSub>
                      <m:sSubPr>
                        <m:ctrlPr>
                          <a:rPr lang="es-ES" b="0" i="1" smtClean="0">
                            <a:latin typeface="Cambria Math" panose="02040503050406030204" pitchFamily="18" charset="0"/>
                          </a:rPr>
                        </m:ctrlPr>
                      </m:sSubPr>
                      <m:e>
                        <m:r>
                          <a:rPr lang="es-ES" b="0" i="1" smtClean="0">
                            <a:latin typeface="Cambria Math" panose="02040503050406030204" pitchFamily="18" charset="0"/>
                          </a:rPr>
                          <m:t>𝜇</m:t>
                        </m:r>
                      </m:e>
                      <m:sub>
                        <m:r>
                          <a:rPr lang="es-ES" b="0" i="1" smtClean="0">
                            <a:latin typeface="Cambria Math" panose="02040503050406030204" pitchFamily="18" charset="0"/>
                          </a:rPr>
                          <m:t>𝑎</m:t>
                        </m:r>
                      </m:sub>
                    </m:sSub>
                    <m:r>
                      <a:rPr lang="es-ES" b="0" i="1" smtClean="0">
                        <a:latin typeface="Cambria Math" panose="02040503050406030204" pitchFamily="18" charset="0"/>
                      </a:rPr>
                      <m:t>,</m:t>
                    </m:r>
                    <m:sSub>
                      <m:sSubPr>
                        <m:ctrlPr>
                          <a:rPr lang="en-US" i="1">
                            <a:latin typeface="Cambria Math" panose="02040503050406030204" pitchFamily="18" charset="0"/>
                          </a:rPr>
                        </m:ctrlPr>
                      </m:sSubPr>
                      <m:e>
                        <m:r>
                          <a:rPr lang="es-ES" i="1">
                            <a:latin typeface="Cambria Math" panose="02040503050406030204" pitchFamily="18" charset="0"/>
                          </a:rPr>
                          <m:t>𝜎</m:t>
                        </m:r>
                      </m:e>
                      <m:sub>
                        <m:r>
                          <a:rPr lang="es-ES" i="1">
                            <a:latin typeface="Cambria Math" panose="02040503050406030204" pitchFamily="18" charset="0"/>
                          </a:rPr>
                          <m:t>𝛼</m:t>
                        </m:r>
                      </m:sub>
                    </m:sSub>
                    <m:r>
                      <a:rPr lang="es-E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𝑃</m:t>
                        </m:r>
                      </m:e>
                      <m:sub>
                        <m:r>
                          <a:rPr lang="en-US" i="1">
                            <a:latin typeface="Cambria Math" panose="02040503050406030204" pitchFamily="18" charset="0"/>
                          </a:rPr>
                          <m:t>𝛼</m:t>
                        </m:r>
                      </m:sub>
                    </m:sSub>
                  </m:oMath>
                </a14:m>
                <a:r>
                  <a:rPr lang="es-ES" dirty="0"/>
                  <a:t> la posterior de </a:t>
                </a:r>
                <a14:m>
                  <m:oMath xmlns:m="http://schemas.openxmlformats.org/officeDocument/2006/math">
                    <m:r>
                      <a:rPr lang="en-US" i="1">
                        <a:latin typeface="Cambria Math" panose="02040503050406030204" pitchFamily="18" charset="0"/>
                      </a:rPr>
                      <m:t>𝛼</m:t>
                    </m:r>
                  </m:oMath>
                </a14:m>
                <a:endParaRPr lang="en-US" dirty="0"/>
              </a:p>
              <a:p>
                <a:pPr marL="285750" lvl="0" indent="-285750">
                  <a:buFont typeface="Arial" panose="020B0604020202020204" pitchFamily="34" charset="0"/>
                  <a:buChar char="•"/>
                </a:pPr>
                <a14:m>
                  <m:oMath xmlns:m="http://schemas.openxmlformats.org/officeDocument/2006/math">
                    <m:r>
                      <a:rPr lang="en-US" i="1">
                        <a:latin typeface="Cambria Math" panose="02040503050406030204" pitchFamily="18" charset="0"/>
                      </a:rPr>
                      <m:t>𝛽</m:t>
                    </m:r>
                    <m:r>
                      <a:rPr lang="es-ES" i="1">
                        <a:latin typeface="Cambria Math" panose="02040503050406030204" pitchFamily="18" charset="0"/>
                      </a:rPr>
                      <m:t>| </m:t>
                    </m:r>
                    <m:r>
                      <a:rPr lang="en-US" i="1">
                        <a:latin typeface="Cambria Math" panose="02040503050406030204" pitchFamily="18" charset="0"/>
                      </a:rPr>
                      <m:t>𝑦</m:t>
                    </m:r>
                    <m:r>
                      <a:rPr lang="es-ES" i="1">
                        <a:latin typeface="Cambria Math" panose="02040503050406030204" pitchFamily="18" charset="0"/>
                      </a:rPr>
                      <m:t>,</m:t>
                    </m:r>
                    <m:r>
                      <a:rPr lang="en-US" i="1">
                        <a:latin typeface="Cambria Math" panose="02040503050406030204" pitchFamily="18" charset="0"/>
                      </a:rPr>
                      <m:t>𝑥</m:t>
                    </m:r>
                    <m:r>
                      <a:rPr lang="es-ES" i="1">
                        <a:latin typeface="Cambria Math" panose="02040503050406030204" pitchFamily="18" charset="0"/>
                      </a:rPr>
                      <m:t>,</m:t>
                    </m:r>
                    <m:sSub>
                      <m:sSubPr>
                        <m:ctrlPr>
                          <a:rPr lang="es-ES" b="0" i="1" smtClean="0">
                            <a:latin typeface="Cambria Math" panose="02040503050406030204" pitchFamily="18" charset="0"/>
                          </a:rPr>
                        </m:ctrlPr>
                      </m:sSubPr>
                      <m:e>
                        <m:r>
                          <a:rPr lang="es-ES" b="0" i="1" smtClean="0">
                            <a:latin typeface="Cambria Math" panose="02040503050406030204" pitchFamily="18" charset="0"/>
                          </a:rPr>
                          <m:t>𝜇</m:t>
                        </m:r>
                      </m:e>
                      <m:sub>
                        <m:r>
                          <a:rPr lang="es-ES" b="0" i="1" smtClean="0">
                            <a:latin typeface="Cambria Math" panose="02040503050406030204" pitchFamily="18" charset="0"/>
                          </a:rPr>
                          <m:t>𝛽</m:t>
                        </m:r>
                      </m:sub>
                    </m:sSub>
                    <m:sSub>
                      <m:sSubPr>
                        <m:ctrlPr>
                          <a:rPr lang="en-US" i="1">
                            <a:latin typeface="Cambria Math" panose="02040503050406030204" pitchFamily="18" charset="0"/>
                          </a:rPr>
                        </m:ctrlPr>
                      </m:sSubPr>
                      <m:e>
                        <m:r>
                          <a:rPr lang="es-ES" i="1">
                            <a:latin typeface="Cambria Math" panose="02040503050406030204" pitchFamily="18" charset="0"/>
                          </a:rPr>
                          <m:t>𝜎</m:t>
                        </m:r>
                      </m:e>
                      <m:sub>
                        <m:r>
                          <a:rPr lang="es-ES" i="1">
                            <a:latin typeface="Cambria Math" panose="02040503050406030204" pitchFamily="18" charset="0"/>
                          </a:rPr>
                          <m:t>𝛽</m:t>
                        </m:r>
                      </m:sub>
                    </m:sSub>
                    <m:r>
                      <a:rPr lang="es-E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𝑃</m:t>
                        </m:r>
                      </m:e>
                      <m:sub>
                        <m:r>
                          <a:rPr lang="en-US" i="1">
                            <a:latin typeface="Cambria Math" panose="02040503050406030204" pitchFamily="18" charset="0"/>
                          </a:rPr>
                          <m:t>𝛽</m:t>
                        </m:r>
                      </m:sub>
                    </m:sSub>
                  </m:oMath>
                </a14:m>
                <a:r>
                  <a:rPr lang="es-ES" dirty="0"/>
                  <a:t> la posterior de </a:t>
                </a:r>
                <a14:m>
                  <m:oMath xmlns:m="http://schemas.openxmlformats.org/officeDocument/2006/math">
                    <m:r>
                      <a:rPr lang="en-US" i="1">
                        <a:latin typeface="Cambria Math" panose="02040503050406030204" pitchFamily="18" charset="0"/>
                      </a:rPr>
                      <m:t>𝛽</m:t>
                    </m:r>
                  </m:oMath>
                </a14:m>
                <a:endParaRPr lang="en-US" dirty="0"/>
              </a:p>
              <a:p>
                <a:pPr marL="285750" lvl="0" indent="-285750">
                  <a:buFont typeface="Arial" panose="020B0604020202020204" pitchFamily="34" charset="0"/>
                  <a:buChar char="•"/>
                </a:pPr>
                <a14:m>
                  <m:oMath xmlns:m="http://schemas.openxmlformats.org/officeDocument/2006/math">
                    <m:r>
                      <a:rPr lang="en-US" i="1">
                        <a:latin typeface="Cambria Math" panose="02040503050406030204" pitchFamily="18" charset="0"/>
                      </a:rPr>
                      <m:t>𝜎</m:t>
                    </m:r>
                    <m:r>
                      <a:rPr lang="es-ES" i="1">
                        <a:latin typeface="Cambria Math" panose="02040503050406030204" pitchFamily="18" charset="0"/>
                      </a:rPr>
                      <m:t>| </m:t>
                    </m:r>
                    <m:r>
                      <a:rPr lang="en-US" i="1">
                        <a:latin typeface="Cambria Math" panose="02040503050406030204" pitchFamily="18" charset="0"/>
                      </a:rPr>
                      <m:t>𝑦</m:t>
                    </m:r>
                    <m:r>
                      <a:rPr lang="es-ES" i="1">
                        <a:latin typeface="Cambria Math" panose="02040503050406030204" pitchFamily="18" charset="0"/>
                      </a:rPr>
                      <m:t>,</m:t>
                    </m:r>
                    <m:r>
                      <a:rPr lang="en-US" i="1">
                        <a:latin typeface="Cambria Math" panose="02040503050406030204" pitchFamily="18" charset="0"/>
                      </a:rPr>
                      <m:t>𝑥</m:t>
                    </m:r>
                    <m:r>
                      <a:rPr lang="es-ES" i="1">
                        <a:latin typeface="Cambria Math" panose="02040503050406030204" pitchFamily="18" charset="0"/>
                      </a:rPr>
                      <m:t>,</m:t>
                    </m:r>
                    <m:r>
                      <a:rPr lang="es-ES" i="1">
                        <a:latin typeface="Cambria Math" panose="02040503050406030204" pitchFamily="18" charset="0"/>
                      </a:rPr>
                      <m:t>𝜆</m:t>
                    </m:r>
                    <m:r>
                      <a:rPr lang="es-E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𝑃</m:t>
                        </m:r>
                      </m:e>
                      <m:sub>
                        <m:r>
                          <a:rPr lang="en-US" i="1">
                            <a:latin typeface="Cambria Math" panose="02040503050406030204" pitchFamily="18" charset="0"/>
                          </a:rPr>
                          <m:t>𝜎</m:t>
                        </m:r>
                      </m:sub>
                    </m:sSub>
                  </m:oMath>
                </a14:m>
                <a:r>
                  <a:rPr lang="es-ES" dirty="0"/>
                  <a:t> la posterior de </a:t>
                </a:r>
                <a14:m>
                  <m:oMath xmlns:m="http://schemas.openxmlformats.org/officeDocument/2006/math">
                    <m:r>
                      <a:rPr lang="en-US" i="1">
                        <a:latin typeface="Cambria Math" panose="02040503050406030204" pitchFamily="18" charset="0"/>
                      </a:rPr>
                      <m:t>𝜎</m:t>
                    </m:r>
                    <m:r>
                      <a:rPr lang="en-US" i="1">
                        <a:latin typeface="Cambria Math" panose="02040503050406030204" pitchFamily="18" charset="0"/>
                      </a:rPr>
                      <m:t> </m:t>
                    </m:r>
                  </m:oMath>
                </a14:m>
                <a:endParaRPr lang="es-ES" dirty="0"/>
              </a:p>
              <a:p>
                <a:pPr marL="285750" lvl="0" indent="-285750">
                  <a:buFont typeface="Arial" panose="020B0604020202020204" pitchFamily="34" charset="0"/>
                  <a:buChar char="•"/>
                </a:pPr>
                <a:endParaRPr lang="en-US" dirty="0"/>
              </a:p>
              <a:p>
                <a:pPr marL="285750" indent="-285750">
                  <a:buFont typeface="Arial" panose="020B0604020202020204" pitchFamily="34" charset="0"/>
                  <a:buChar char="•"/>
                </a:pPr>
                <a:r>
                  <a:rPr lang="es-ES" dirty="0"/>
                  <a:t>De las cuales se desprenden estimaciones puntuales e intervalos de credibilidad (basados en la distribución </a:t>
                </a:r>
                <a:r>
                  <a:rPr lang="es-ES" i="1" dirty="0"/>
                  <a:t>posterior</a:t>
                </a:r>
                <a:r>
                  <a:rPr lang="es-ES" dirty="0"/>
                  <a:t>).</a:t>
                </a:r>
                <a:endParaRPr lang="en-US" dirty="0"/>
              </a:p>
            </p:txBody>
          </p:sp>
        </mc:Choice>
        <mc:Fallback>
          <p:sp>
            <p:nvSpPr>
              <p:cNvPr id="19" name="TextBox 18">
                <a:extLst>
                  <a:ext uri="{FF2B5EF4-FFF2-40B4-BE49-F238E27FC236}">
                    <a16:creationId xmlns:a16="http://schemas.microsoft.com/office/drawing/2014/main" id="{EC3B19ED-47A3-4201-0746-2E136227EB88}"/>
                  </a:ext>
                </a:extLst>
              </p:cNvPr>
              <p:cNvSpPr txBox="1">
                <a:spLocks noRot="1" noChangeAspect="1" noMove="1" noResize="1" noEditPoints="1" noAdjustHandles="1" noChangeArrowheads="1" noChangeShapeType="1" noTextEdit="1"/>
              </p:cNvSpPr>
              <p:nvPr/>
            </p:nvSpPr>
            <p:spPr>
              <a:xfrm>
                <a:off x="1189820" y="1211854"/>
                <a:ext cx="12338891" cy="5404813"/>
              </a:xfrm>
              <a:prstGeom prst="rect">
                <a:avLst/>
              </a:prstGeom>
              <a:blipFill>
                <a:blip r:embed="rId3"/>
                <a:stretch>
                  <a:fillRect l="-296" t="-677" b="-903"/>
                </a:stretch>
              </a:blipFill>
            </p:spPr>
            <p:txBody>
              <a:bodyPr/>
              <a:lstStyle/>
              <a:p>
                <a:r>
                  <a:rPr lang="en-US">
                    <a:noFill/>
                  </a:rPr>
                  <a:t> </a:t>
                </a:r>
              </a:p>
            </p:txBody>
          </p:sp>
        </mc:Fallback>
      </mc:AlternateContent>
      <p:sp>
        <p:nvSpPr>
          <p:cNvPr id="2" name="TextBox 1">
            <a:extLst>
              <a:ext uri="{FF2B5EF4-FFF2-40B4-BE49-F238E27FC236}">
                <a16:creationId xmlns:a16="http://schemas.microsoft.com/office/drawing/2014/main" id="{43853AC8-6114-E19C-1348-E9B8E3708D81}"/>
              </a:ext>
            </a:extLst>
          </p:cNvPr>
          <p:cNvSpPr txBox="1"/>
          <p:nvPr/>
        </p:nvSpPr>
        <p:spPr>
          <a:xfrm>
            <a:off x="609072" y="566227"/>
            <a:ext cx="3202764" cy="461665"/>
          </a:xfrm>
          <a:prstGeom prst="rect">
            <a:avLst/>
          </a:prstGeom>
          <a:noFill/>
        </p:spPr>
        <p:txBody>
          <a:bodyPr wrap="square" rtlCol="0">
            <a:spAutoFit/>
          </a:bodyPr>
          <a:lstStyle/>
          <a:p>
            <a:r>
              <a:rPr lang="es-ES" sz="2400" dirty="0">
                <a:latin typeface="Source Sans 3" panose="020B0604020202020204" charset="0"/>
              </a:rPr>
              <a:t>Regresión Bayesiana</a:t>
            </a:r>
            <a:endParaRPr lang="en-US" dirty="0">
              <a:latin typeface="Source Sans 3" panose="020B0604020202020204" charset="0"/>
            </a:endParaRPr>
          </a:p>
        </p:txBody>
      </p:sp>
    </p:spTree>
    <p:extLst>
      <p:ext uri="{BB962C8B-B14F-4D97-AF65-F5344CB8AC3E}">
        <p14:creationId xmlns:p14="http://schemas.microsoft.com/office/powerpoint/2010/main" val="259464592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4668C1-1A15-1D26-1938-8A7292EC7A1F}"/>
            </a:ext>
          </a:extLst>
        </p:cNvPr>
        <p:cNvGrpSpPr/>
        <p:nvPr/>
      </p:nvGrpSpPr>
      <p:grpSpPr>
        <a:xfrm>
          <a:off x="0" y="0"/>
          <a:ext cx="0" cy="0"/>
          <a:chOff x="0" y="0"/>
          <a:chExt cx="0" cy="0"/>
        </a:xfrm>
      </p:grpSpPr>
      <p:sp>
        <p:nvSpPr>
          <p:cNvPr id="5" name="Shape 3">
            <a:extLst>
              <a:ext uri="{FF2B5EF4-FFF2-40B4-BE49-F238E27FC236}">
                <a16:creationId xmlns:a16="http://schemas.microsoft.com/office/drawing/2014/main" id="{8852BEBA-DA44-E2D6-6BA1-105D44577F5B}"/>
              </a:ext>
            </a:extLst>
          </p:cNvPr>
          <p:cNvSpPr/>
          <p:nvPr/>
        </p:nvSpPr>
        <p:spPr>
          <a:xfrm>
            <a:off x="763310" y="1211854"/>
            <a:ext cx="121920" cy="6521635"/>
          </a:xfrm>
          <a:prstGeom prst="roundRect">
            <a:avLst>
              <a:gd name="adj" fmla="val 27907"/>
            </a:avLst>
          </a:prstGeom>
          <a:solidFill>
            <a:srgbClr val="325F7B"/>
          </a:solidFill>
          <a:ln/>
        </p:spPr>
        <p:txBody>
          <a:bodyPr/>
          <a:lstStyle/>
          <a:p>
            <a:endParaRPr lang="es-ES" noProof="0" dirty="0"/>
          </a:p>
        </p:txBody>
      </p:sp>
      <mc:AlternateContent xmlns:mc="http://schemas.openxmlformats.org/markup-compatibility/2006">
        <mc:Choice xmlns:a14="http://schemas.microsoft.com/office/drawing/2010/main" Requires="a14">
          <p:sp>
            <p:nvSpPr>
              <p:cNvPr id="19" name="TextBox 18">
                <a:extLst>
                  <a:ext uri="{FF2B5EF4-FFF2-40B4-BE49-F238E27FC236}">
                    <a16:creationId xmlns:a16="http://schemas.microsoft.com/office/drawing/2014/main" id="{77A8FC18-F9DD-8F78-AAF8-67980EA7332C}"/>
                  </a:ext>
                </a:extLst>
              </p:cNvPr>
              <p:cNvSpPr txBox="1"/>
              <p:nvPr/>
            </p:nvSpPr>
            <p:spPr>
              <a:xfrm>
                <a:off x="1189820" y="1211854"/>
                <a:ext cx="12338891" cy="7039748"/>
              </a:xfrm>
              <a:prstGeom prst="rect">
                <a:avLst/>
              </a:prstGeom>
              <a:noFill/>
            </p:spPr>
            <p:txBody>
              <a:bodyPr wrap="square" rtlCol="0">
                <a:spAutoFit/>
              </a:bodyPr>
              <a:lstStyle/>
              <a:p>
                <a:pPr marL="285750" indent="-285750">
                  <a:buFont typeface="Arial" panose="020B0604020202020204" pitchFamily="34" charset="0"/>
                  <a:buChar char="•"/>
                </a:pPr>
                <a:r>
                  <a:rPr lang="es-ES" dirty="0"/>
                  <a:t>La regularización es una técnica de regresión robusta, que modifica la función de pérdida de manera tal de penalizar la complejidad del modelo</a:t>
                </a:r>
                <a:r>
                  <a:rPr lang="es-AR" dirty="0"/>
                  <a:t>. La idea es controlar el </a:t>
                </a:r>
                <a:r>
                  <a:rPr lang="es-AR" i="1" dirty="0" err="1"/>
                  <a:t>overfitting</a:t>
                </a:r>
                <a:r>
                  <a:rPr lang="es-AR" dirty="0"/>
                  <a:t>, reducir la colinealidad y mejorar la capacidad predictiva fuera de la muestra, aceptando un pequeño sesgo a cambio de una reducción importante en la varianza.</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s-ES" dirty="0"/>
                  <a:t>En OLS clásico se determina el estimador a través de la minimización de la suma de los errores al cuadrado:</a:t>
                </a:r>
                <a:endParaRPr lang="en-US" dirty="0"/>
              </a:p>
              <a:p>
                <a:pPr/>
                <a14:m>
                  <m:oMathPara xmlns:m="http://schemas.openxmlformats.org/officeDocument/2006/math">
                    <m:oMathParaPr>
                      <m:jc m:val="centerGroup"/>
                    </m:oMathParaPr>
                    <m:oMath xmlns:m="http://schemas.openxmlformats.org/officeDocument/2006/math">
                      <m:acc>
                        <m:accPr>
                          <m:chr m:val="̂"/>
                          <m:ctrlPr>
                            <a:rPr lang="en-US" i="1">
                              <a:latin typeface="Cambria Math" panose="02040503050406030204" pitchFamily="18" charset="0"/>
                            </a:rPr>
                          </m:ctrlPr>
                        </m:accPr>
                        <m:e>
                          <m:r>
                            <a:rPr lang="es-ES" i="1">
                              <a:latin typeface="Cambria Math" panose="02040503050406030204" pitchFamily="18" charset="0"/>
                            </a:rPr>
                            <m:t>𝛽</m:t>
                          </m:r>
                          <m:r>
                            <a:rPr lang="es-ES" i="1">
                              <a:latin typeface="Cambria Math" panose="02040503050406030204" pitchFamily="18" charset="0"/>
                            </a:rPr>
                            <m:t> </m:t>
                          </m:r>
                        </m:e>
                      </m:acc>
                      <m:r>
                        <a:rPr lang="es-ES" i="1">
                          <a:latin typeface="Cambria Math" panose="02040503050406030204" pitchFamily="18" charset="0"/>
                        </a:rPr>
                        <m:t>=</m:t>
                      </m:r>
                      <m:sSup>
                        <m:sSupPr>
                          <m:ctrlPr>
                            <a:rPr lang="en-US" i="1">
                              <a:latin typeface="Cambria Math" panose="02040503050406030204" pitchFamily="18" charset="0"/>
                            </a:rPr>
                          </m:ctrlPr>
                        </m:sSupPr>
                        <m:e>
                          <m:func>
                            <m:funcPr>
                              <m:ctrlPr>
                                <a:rPr lang="en-US" i="1">
                                  <a:latin typeface="Cambria Math" panose="02040503050406030204" pitchFamily="18" charset="0"/>
                                </a:rPr>
                              </m:ctrlPr>
                            </m:funcPr>
                            <m:fName>
                              <m:limLow>
                                <m:limLowPr>
                                  <m:ctrlPr>
                                    <a:rPr lang="en-US" i="1">
                                      <a:latin typeface="Cambria Math" panose="02040503050406030204" pitchFamily="18" charset="0"/>
                                    </a:rPr>
                                  </m:ctrlPr>
                                </m:limLowPr>
                                <m:e>
                                  <m:r>
                                    <m:rPr>
                                      <m:sty m:val="p"/>
                                    </m:rPr>
                                    <a:rPr lang="es-ES">
                                      <a:latin typeface="Cambria Math" panose="02040503050406030204" pitchFamily="18" charset="0"/>
                                    </a:rPr>
                                    <m:t>min</m:t>
                                  </m:r>
                                </m:e>
                                <m:lim>
                                  <m:r>
                                    <a:rPr lang="es-ES" i="1">
                                      <a:latin typeface="Cambria Math" panose="02040503050406030204" pitchFamily="18" charset="0"/>
                                    </a:rPr>
                                    <m:t>𝛽</m:t>
                                  </m:r>
                                </m:lim>
                              </m:limLow>
                            </m:fName>
                            <m:e>
                              <m:nary>
                                <m:naryPr>
                                  <m:chr m:val="∑"/>
                                  <m:limLoc m:val="undOvr"/>
                                  <m:ctrlPr>
                                    <a:rPr lang="en-US" i="1">
                                      <a:latin typeface="Cambria Math" panose="02040503050406030204" pitchFamily="18" charset="0"/>
                                    </a:rPr>
                                  </m:ctrlPr>
                                </m:naryPr>
                                <m:sub>
                                  <m:r>
                                    <a:rPr lang="es-ES" i="1">
                                      <a:latin typeface="Cambria Math" panose="02040503050406030204" pitchFamily="18" charset="0"/>
                                    </a:rPr>
                                    <m:t>𝑖</m:t>
                                  </m:r>
                                  <m:r>
                                    <a:rPr lang="es-ES" i="1">
                                      <a:latin typeface="Cambria Math" panose="02040503050406030204" pitchFamily="18" charset="0"/>
                                    </a:rPr>
                                    <m:t>=1</m:t>
                                  </m:r>
                                </m:sub>
                                <m:sup>
                                  <m:r>
                                    <a:rPr lang="es-ES" i="1">
                                      <a:latin typeface="Cambria Math" panose="02040503050406030204" pitchFamily="18" charset="0"/>
                                    </a:rPr>
                                    <m:t>𝑛</m:t>
                                  </m:r>
                                </m:sup>
                                <m:e>
                                  <m:r>
                                    <a:rPr lang="es-ES" i="1">
                                      <a:latin typeface="Cambria Math" panose="02040503050406030204" pitchFamily="18" charset="0"/>
                                    </a:rPr>
                                    <m:t>(</m:t>
                                  </m:r>
                                  <m:sSub>
                                    <m:sSubPr>
                                      <m:ctrlPr>
                                        <a:rPr lang="en-US" i="1">
                                          <a:latin typeface="Cambria Math" panose="02040503050406030204" pitchFamily="18" charset="0"/>
                                        </a:rPr>
                                      </m:ctrlPr>
                                    </m:sSubPr>
                                    <m:e>
                                      <m:r>
                                        <a:rPr lang="es-ES" i="1">
                                          <a:latin typeface="Cambria Math" panose="02040503050406030204" pitchFamily="18" charset="0"/>
                                        </a:rPr>
                                        <m:t>𝑦</m:t>
                                      </m:r>
                                    </m:e>
                                    <m:sub>
                                      <m:r>
                                        <a:rPr lang="es-ES" i="1">
                                          <a:latin typeface="Cambria Math" panose="02040503050406030204" pitchFamily="18" charset="0"/>
                                        </a:rPr>
                                        <m:t>𝑖</m:t>
                                      </m:r>
                                    </m:sub>
                                  </m:sSub>
                                  <m:r>
                                    <a:rPr lang="es-ES" i="1">
                                      <a:latin typeface="Cambria Math" panose="02040503050406030204" pitchFamily="18" charset="0"/>
                                    </a:rPr>
                                    <m:t>−</m:t>
                                  </m:r>
                                  <m:r>
                                    <a:rPr lang="es-ES" i="1">
                                      <a:latin typeface="Cambria Math" panose="02040503050406030204" pitchFamily="18" charset="0"/>
                                    </a:rPr>
                                    <m:t>𝛼</m:t>
                                  </m:r>
                                  <m:r>
                                    <a:rPr lang="es-ES" i="1">
                                      <a:latin typeface="Cambria Math" panose="02040503050406030204" pitchFamily="18" charset="0"/>
                                    </a:rPr>
                                    <m:t>−</m:t>
                                  </m:r>
                                </m:e>
                              </m:nary>
                              <m:nary>
                                <m:naryPr>
                                  <m:chr m:val="∑"/>
                                  <m:limLoc m:val="undOvr"/>
                                  <m:ctrlPr>
                                    <a:rPr lang="en-US" i="1">
                                      <a:latin typeface="Cambria Math" panose="02040503050406030204" pitchFamily="18" charset="0"/>
                                    </a:rPr>
                                  </m:ctrlPr>
                                </m:naryPr>
                                <m:sub>
                                  <m:r>
                                    <a:rPr lang="es-ES" i="1">
                                      <a:latin typeface="Cambria Math" panose="02040503050406030204" pitchFamily="18" charset="0"/>
                                    </a:rPr>
                                    <m:t>𝑗</m:t>
                                  </m:r>
                                  <m:r>
                                    <a:rPr lang="es-ES" i="1">
                                      <a:latin typeface="Cambria Math" panose="02040503050406030204" pitchFamily="18" charset="0"/>
                                    </a:rPr>
                                    <m:t>=1</m:t>
                                  </m:r>
                                </m:sub>
                                <m:sup>
                                  <m:r>
                                    <a:rPr lang="es-ES" i="1">
                                      <a:latin typeface="Cambria Math" panose="02040503050406030204" pitchFamily="18" charset="0"/>
                                    </a:rPr>
                                    <m:t>𝑝</m:t>
                                  </m:r>
                                </m:sup>
                                <m:e>
                                  <m:sSub>
                                    <m:sSubPr>
                                      <m:ctrlPr>
                                        <a:rPr lang="en-US" i="1">
                                          <a:latin typeface="Cambria Math" panose="02040503050406030204" pitchFamily="18" charset="0"/>
                                        </a:rPr>
                                      </m:ctrlPr>
                                    </m:sSubPr>
                                    <m:e>
                                      <m:r>
                                        <a:rPr lang="es-ES" i="1">
                                          <a:latin typeface="Cambria Math" panose="02040503050406030204" pitchFamily="18" charset="0"/>
                                        </a:rPr>
                                        <m:t>𝛽</m:t>
                                      </m:r>
                                    </m:e>
                                    <m:sub>
                                      <m:r>
                                        <a:rPr lang="es-ES" i="1">
                                          <a:latin typeface="Cambria Math" panose="02040503050406030204" pitchFamily="18" charset="0"/>
                                        </a:rPr>
                                        <m:t>𝑗</m:t>
                                      </m:r>
                                    </m:sub>
                                  </m:sSub>
                                  <m:sSub>
                                    <m:sSubPr>
                                      <m:ctrlPr>
                                        <a:rPr lang="en-US" i="1">
                                          <a:latin typeface="Cambria Math" panose="02040503050406030204" pitchFamily="18" charset="0"/>
                                        </a:rPr>
                                      </m:ctrlPr>
                                    </m:sSubPr>
                                    <m:e>
                                      <m:r>
                                        <a:rPr lang="es-ES" i="1">
                                          <a:latin typeface="Cambria Math" panose="02040503050406030204" pitchFamily="18" charset="0"/>
                                        </a:rPr>
                                        <m:t>𝑋</m:t>
                                      </m:r>
                                    </m:e>
                                    <m:sub>
                                      <m:r>
                                        <a:rPr lang="es-ES" i="1">
                                          <a:latin typeface="Cambria Math" panose="02040503050406030204" pitchFamily="18" charset="0"/>
                                        </a:rPr>
                                        <m:t>𝑖𝑗</m:t>
                                      </m:r>
                                    </m:sub>
                                  </m:sSub>
                                  <m:r>
                                    <a:rPr lang="es-ES" i="1">
                                      <a:latin typeface="Cambria Math" panose="02040503050406030204" pitchFamily="18" charset="0"/>
                                    </a:rPr>
                                    <m:t>)  </m:t>
                                  </m:r>
                                </m:e>
                              </m:nary>
                            </m:e>
                          </m:func>
                        </m:e>
                        <m:sup>
                          <m:r>
                            <a:rPr lang="es-ES" i="1">
                              <a:latin typeface="Cambria Math" panose="02040503050406030204" pitchFamily="18" charset="0"/>
                            </a:rPr>
                            <m:t>2</m:t>
                          </m:r>
                        </m:sup>
                      </m:sSup>
                    </m:oMath>
                  </m:oMathPara>
                </a14:m>
                <a:endParaRPr lang="en-US" dirty="0"/>
              </a:p>
              <a:p>
                <a:endParaRPr lang="en-US" dirty="0"/>
              </a:p>
              <a:p>
                <a:pPr marL="285750" indent="-285750">
                  <a:buFont typeface="Arial" panose="020B0604020202020204" pitchFamily="34" charset="0"/>
                  <a:buChar char="•"/>
                </a:pPr>
                <a:r>
                  <a:rPr lang="es-ES" dirty="0"/>
                  <a:t>Con regularización, se añade una penalidad por tamaño de los coeficientes:</a:t>
                </a:r>
                <a:endParaRPr lang="en-US" dirty="0"/>
              </a:p>
              <a:p>
                <a:pPr/>
                <a14:m>
                  <m:oMathPara xmlns:m="http://schemas.openxmlformats.org/officeDocument/2006/math">
                    <m:oMathParaPr>
                      <m:jc m:val="centerGroup"/>
                    </m:oMathParaPr>
                    <m:oMath xmlns:m="http://schemas.openxmlformats.org/officeDocument/2006/math">
                      <m:acc>
                        <m:accPr>
                          <m:chr m:val="̂"/>
                          <m:ctrlPr>
                            <a:rPr lang="en-US" i="1">
                              <a:latin typeface="Cambria Math" panose="02040503050406030204" pitchFamily="18" charset="0"/>
                            </a:rPr>
                          </m:ctrlPr>
                        </m:accPr>
                        <m:e>
                          <m:r>
                            <a:rPr lang="es-ES" i="1">
                              <a:latin typeface="Cambria Math" panose="02040503050406030204" pitchFamily="18" charset="0"/>
                            </a:rPr>
                            <m:t>𝛽</m:t>
                          </m:r>
                          <m:r>
                            <a:rPr lang="es-ES" i="1">
                              <a:latin typeface="Cambria Math" panose="02040503050406030204" pitchFamily="18" charset="0"/>
                            </a:rPr>
                            <m:t> </m:t>
                          </m:r>
                        </m:e>
                      </m:acc>
                      <m:r>
                        <a:rPr lang="es-ES" i="1">
                          <a:latin typeface="Cambria Math" panose="02040503050406030204" pitchFamily="18" charset="0"/>
                        </a:rPr>
                        <m:t>=</m:t>
                      </m:r>
                      <m:sSup>
                        <m:sSupPr>
                          <m:ctrlPr>
                            <a:rPr lang="en-US" i="1">
                              <a:latin typeface="Cambria Math" panose="02040503050406030204" pitchFamily="18" charset="0"/>
                            </a:rPr>
                          </m:ctrlPr>
                        </m:sSupPr>
                        <m:e>
                          <m:func>
                            <m:funcPr>
                              <m:ctrlPr>
                                <a:rPr lang="en-US" i="1">
                                  <a:latin typeface="Cambria Math" panose="02040503050406030204" pitchFamily="18" charset="0"/>
                                </a:rPr>
                              </m:ctrlPr>
                            </m:funcPr>
                            <m:fName>
                              <m:limLow>
                                <m:limLowPr>
                                  <m:ctrlPr>
                                    <a:rPr lang="en-US" i="1">
                                      <a:latin typeface="Cambria Math" panose="02040503050406030204" pitchFamily="18" charset="0"/>
                                    </a:rPr>
                                  </m:ctrlPr>
                                </m:limLowPr>
                                <m:e>
                                  <m:r>
                                    <m:rPr>
                                      <m:sty m:val="p"/>
                                    </m:rPr>
                                    <a:rPr lang="es-ES">
                                      <a:latin typeface="Cambria Math" panose="02040503050406030204" pitchFamily="18" charset="0"/>
                                    </a:rPr>
                                    <m:t>min</m:t>
                                  </m:r>
                                </m:e>
                                <m:lim>
                                  <m:r>
                                    <a:rPr lang="es-ES" i="1">
                                      <a:latin typeface="Cambria Math" panose="02040503050406030204" pitchFamily="18" charset="0"/>
                                    </a:rPr>
                                    <m:t>𝛽</m:t>
                                  </m:r>
                                </m:lim>
                              </m:limLow>
                            </m:fName>
                            <m:e>
                              <m:nary>
                                <m:naryPr>
                                  <m:chr m:val="∑"/>
                                  <m:limLoc m:val="undOvr"/>
                                  <m:ctrlPr>
                                    <a:rPr lang="en-US" i="1">
                                      <a:latin typeface="Cambria Math" panose="02040503050406030204" pitchFamily="18" charset="0"/>
                                    </a:rPr>
                                  </m:ctrlPr>
                                </m:naryPr>
                                <m:sub>
                                  <m:r>
                                    <a:rPr lang="es-ES" i="1">
                                      <a:latin typeface="Cambria Math" panose="02040503050406030204" pitchFamily="18" charset="0"/>
                                    </a:rPr>
                                    <m:t>𝑖</m:t>
                                  </m:r>
                                  <m:r>
                                    <a:rPr lang="es-ES" i="1">
                                      <a:latin typeface="Cambria Math" panose="02040503050406030204" pitchFamily="18" charset="0"/>
                                    </a:rPr>
                                    <m:t>=1</m:t>
                                  </m:r>
                                </m:sub>
                                <m:sup>
                                  <m:r>
                                    <a:rPr lang="es-ES" i="1">
                                      <a:latin typeface="Cambria Math" panose="02040503050406030204" pitchFamily="18" charset="0"/>
                                    </a:rPr>
                                    <m:t>𝑛</m:t>
                                  </m:r>
                                </m:sup>
                                <m:e>
                                  <m:r>
                                    <a:rPr lang="es-ES" i="1">
                                      <a:latin typeface="Cambria Math" panose="02040503050406030204" pitchFamily="18" charset="0"/>
                                    </a:rPr>
                                    <m:t>(</m:t>
                                  </m:r>
                                  <m:sSub>
                                    <m:sSubPr>
                                      <m:ctrlPr>
                                        <a:rPr lang="en-US" i="1">
                                          <a:latin typeface="Cambria Math" panose="02040503050406030204" pitchFamily="18" charset="0"/>
                                        </a:rPr>
                                      </m:ctrlPr>
                                    </m:sSubPr>
                                    <m:e>
                                      <m:r>
                                        <a:rPr lang="es-ES" i="1">
                                          <a:latin typeface="Cambria Math" panose="02040503050406030204" pitchFamily="18" charset="0"/>
                                        </a:rPr>
                                        <m:t>𝑦</m:t>
                                      </m:r>
                                    </m:e>
                                    <m:sub>
                                      <m:r>
                                        <a:rPr lang="es-ES" i="1">
                                          <a:latin typeface="Cambria Math" panose="02040503050406030204" pitchFamily="18" charset="0"/>
                                        </a:rPr>
                                        <m:t>𝑖</m:t>
                                      </m:r>
                                    </m:sub>
                                  </m:sSub>
                                  <m:r>
                                    <a:rPr lang="es-ES" i="1">
                                      <a:latin typeface="Cambria Math" panose="02040503050406030204" pitchFamily="18" charset="0"/>
                                    </a:rPr>
                                    <m:t>−</m:t>
                                  </m:r>
                                  <m:r>
                                    <a:rPr lang="es-ES" i="1">
                                      <a:latin typeface="Cambria Math" panose="02040503050406030204" pitchFamily="18" charset="0"/>
                                    </a:rPr>
                                    <m:t>𝛼</m:t>
                                  </m:r>
                                  <m:r>
                                    <a:rPr lang="es-ES" i="1">
                                      <a:latin typeface="Cambria Math" panose="02040503050406030204" pitchFamily="18" charset="0"/>
                                    </a:rPr>
                                    <m:t>−</m:t>
                                  </m:r>
                                </m:e>
                              </m:nary>
                              <m:nary>
                                <m:naryPr>
                                  <m:chr m:val="∑"/>
                                  <m:limLoc m:val="undOvr"/>
                                  <m:ctrlPr>
                                    <a:rPr lang="en-US" i="1">
                                      <a:latin typeface="Cambria Math" panose="02040503050406030204" pitchFamily="18" charset="0"/>
                                    </a:rPr>
                                  </m:ctrlPr>
                                </m:naryPr>
                                <m:sub>
                                  <m:r>
                                    <a:rPr lang="es-ES" i="1">
                                      <a:latin typeface="Cambria Math" panose="02040503050406030204" pitchFamily="18" charset="0"/>
                                    </a:rPr>
                                    <m:t>𝑗</m:t>
                                  </m:r>
                                  <m:r>
                                    <a:rPr lang="es-ES" i="1">
                                      <a:latin typeface="Cambria Math" panose="02040503050406030204" pitchFamily="18" charset="0"/>
                                    </a:rPr>
                                    <m:t>=1</m:t>
                                  </m:r>
                                </m:sub>
                                <m:sup>
                                  <m:r>
                                    <a:rPr lang="es-ES" i="1">
                                      <a:latin typeface="Cambria Math" panose="02040503050406030204" pitchFamily="18" charset="0"/>
                                    </a:rPr>
                                    <m:t>𝑝</m:t>
                                  </m:r>
                                </m:sup>
                                <m:e>
                                  <m:sSub>
                                    <m:sSubPr>
                                      <m:ctrlPr>
                                        <a:rPr lang="en-US" i="1">
                                          <a:latin typeface="Cambria Math" panose="02040503050406030204" pitchFamily="18" charset="0"/>
                                        </a:rPr>
                                      </m:ctrlPr>
                                    </m:sSubPr>
                                    <m:e>
                                      <m:r>
                                        <a:rPr lang="es-ES" i="1">
                                          <a:latin typeface="Cambria Math" panose="02040503050406030204" pitchFamily="18" charset="0"/>
                                        </a:rPr>
                                        <m:t>𝛽</m:t>
                                      </m:r>
                                    </m:e>
                                    <m:sub>
                                      <m:r>
                                        <a:rPr lang="es-ES" i="1">
                                          <a:latin typeface="Cambria Math" panose="02040503050406030204" pitchFamily="18" charset="0"/>
                                        </a:rPr>
                                        <m:t>𝑗</m:t>
                                      </m:r>
                                    </m:sub>
                                  </m:sSub>
                                  <m:sSub>
                                    <m:sSubPr>
                                      <m:ctrlPr>
                                        <a:rPr lang="en-US" i="1">
                                          <a:latin typeface="Cambria Math" panose="02040503050406030204" pitchFamily="18" charset="0"/>
                                        </a:rPr>
                                      </m:ctrlPr>
                                    </m:sSubPr>
                                    <m:e>
                                      <m:r>
                                        <a:rPr lang="es-ES" i="1">
                                          <a:latin typeface="Cambria Math" panose="02040503050406030204" pitchFamily="18" charset="0"/>
                                        </a:rPr>
                                        <m:t>𝑋</m:t>
                                      </m:r>
                                    </m:e>
                                    <m:sub>
                                      <m:r>
                                        <a:rPr lang="es-ES" i="1">
                                          <a:latin typeface="Cambria Math" panose="02040503050406030204" pitchFamily="18" charset="0"/>
                                        </a:rPr>
                                        <m:t>𝑖𝑗</m:t>
                                      </m:r>
                                    </m:sub>
                                  </m:sSub>
                                  <m:r>
                                    <a:rPr lang="es-ES" i="1">
                                      <a:latin typeface="Cambria Math" panose="02040503050406030204" pitchFamily="18" charset="0"/>
                                    </a:rPr>
                                    <m:t>)</m:t>
                                  </m:r>
                                </m:e>
                              </m:nary>
                            </m:e>
                          </m:func>
                        </m:e>
                        <m:sup>
                          <m:r>
                            <a:rPr lang="es-ES" i="1">
                              <a:latin typeface="Cambria Math" panose="02040503050406030204" pitchFamily="18" charset="0"/>
                            </a:rPr>
                            <m:t>2</m:t>
                          </m:r>
                        </m:sup>
                      </m:sSup>
                      <m:r>
                        <a:rPr lang="es-ES" i="1">
                          <a:latin typeface="Cambria Math" panose="02040503050406030204" pitchFamily="18" charset="0"/>
                        </a:rPr>
                        <m:t>+</m:t>
                      </m:r>
                      <m:r>
                        <a:rPr lang="es-ES" i="1">
                          <a:latin typeface="Cambria Math" panose="02040503050406030204" pitchFamily="18" charset="0"/>
                        </a:rPr>
                        <m:t>𝜆</m:t>
                      </m:r>
                      <m:r>
                        <a:rPr lang="es-ES" i="1">
                          <a:latin typeface="Cambria Math" panose="02040503050406030204" pitchFamily="18" charset="0"/>
                        </a:rPr>
                        <m:t>𝑓</m:t>
                      </m:r>
                      <m:r>
                        <a:rPr lang="es-ES" i="1">
                          <a:latin typeface="Cambria Math" panose="02040503050406030204" pitchFamily="18" charset="0"/>
                        </a:rPr>
                        <m:t>(</m:t>
                      </m:r>
                      <m:r>
                        <a:rPr lang="es-ES" i="1">
                          <a:latin typeface="Cambria Math" panose="02040503050406030204" pitchFamily="18" charset="0"/>
                        </a:rPr>
                        <m:t>𝛽</m:t>
                      </m:r>
                      <m:r>
                        <a:rPr lang="es-ES" i="1">
                          <a:latin typeface="Cambria Math" panose="02040503050406030204" pitchFamily="18" charset="0"/>
                        </a:rPr>
                        <m:t>) </m:t>
                      </m:r>
                    </m:oMath>
                  </m:oMathPara>
                </a14:m>
                <a:endParaRPr lang="en-US" dirty="0"/>
              </a:p>
              <a:p>
                <a:r>
                  <a:rPr lang="es-ES" dirty="0"/>
                  <a:t>Donde,</a:t>
                </a:r>
                <a:endParaRPr lang="en-US" dirty="0"/>
              </a:p>
              <a:p>
                <a:pPr marL="285750" lvl="0" indent="-285750">
                  <a:buFont typeface="Arial" panose="020B0604020202020204" pitchFamily="34" charset="0"/>
                  <a:buChar char="•"/>
                </a:pPr>
                <a14:m>
                  <m:oMath xmlns:m="http://schemas.openxmlformats.org/officeDocument/2006/math">
                    <m:r>
                      <a:rPr lang="es-ES" i="1">
                        <a:latin typeface="Cambria Math" panose="02040503050406030204" pitchFamily="18" charset="0"/>
                      </a:rPr>
                      <m:t>𝑓</m:t>
                    </m:r>
                    <m:r>
                      <a:rPr lang="es-ES" i="1">
                        <a:latin typeface="Cambria Math" panose="02040503050406030204" pitchFamily="18" charset="0"/>
                      </a:rPr>
                      <m:t>(</m:t>
                    </m:r>
                    <m:r>
                      <a:rPr lang="es-ES" i="1">
                        <a:latin typeface="Cambria Math" panose="02040503050406030204" pitchFamily="18" charset="0"/>
                      </a:rPr>
                      <m:t>𝛽</m:t>
                    </m:r>
                    <m:r>
                      <a:rPr lang="es-ES" i="1">
                        <a:latin typeface="Cambria Math" panose="02040503050406030204" pitchFamily="18" charset="0"/>
                      </a:rPr>
                      <m:t>)</m:t>
                    </m:r>
                  </m:oMath>
                </a14:m>
                <a:r>
                  <a:rPr lang="es-ES" dirty="0"/>
                  <a:t> es una función de penalidad que define el tipo de regularización</a:t>
                </a:r>
                <a:endParaRPr lang="en-US" dirty="0"/>
              </a:p>
              <a:p>
                <a:pPr marL="285750" lvl="0" indent="-285750">
                  <a:buFont typeface="Arial" panose="020B0604020202020204" pitchFamily="34" charset="0"/>
                  <a:buChar char="•"/>
                </a:pPr>
                <a14:m>
                  <m:oMath xmlns:m="http://schemas.openxmlformats.org/officeDocument/2006/math">
                    <m:r>
                      <a:rPr lang="es-ES" i="1">
                        <a:latin typeface="Cambria Math" panose="02040503050406030204" pitchFamily="18" charset="0"/>
                      </a:rPr>
                      <m:t>𝜆</m:t>
                    </m:r>
                    <m:r>
                      <a:rPr lang="es-ES" i="1">
                        <a:latin typeface="Cambria Math" panose="02040503050406030204" pitchFamily="18" charset="0"/>
                      </a:rPr>
                      <m:t>≥0</m:t>
                    </m:r>
                  </m:oMath>
                </a14:m>
                <a:r>
                  <a:rPr lang="es-ES" dirty="0"/>
                  <a:t> es el factor que controla la intensidad de la penalización.  </a:t>
                </a:r>
                <a:endParaRPr lang="en-US" dirty="0"/>
              </a:p>
              <a:p>
                <a:pPr marL="285750" indent="-285750">
                  <a:buFont typeface="Arial" panose="020B0604020202020204" pitchFamily="34" charset="0"/>
                  <a:buChar char="•"/>
                </a:pPr>
                <a:r>
                  <a:rPr lang="es-ES" dirty="0"/>
                  <a:t>Se obliga al modelo a no utilizar coeficientes grandes, a menos que sea realmente necesario para explicar la variabilidad en los datos</a:t>
                </a:r>
              </a:p>
              <a:p>
                <a:endParaRPr lang="es-ES" dirty="0"/>
              </a:p>
              <a:p>
                <a:pPr marL="285750" indent="-285750">
                  <a:buFont typeface="Arial" panose="020B0604020202020204" pitchFamily="34" charset="0"/>
                  <a:buChar char="•"/>
                </a:pPr>
                <a:r>
                  <a:rPr lang="es-ES" dirty="0"/>
                  <a:t>Regularizar suele ayudar cuando hay:</a:t>
                </a:r>
                <a:endParaRPr lang="en-US" dirty="0"/>
              </a:p>
              <a:p>
                <a:pPr marL="742950" lvl="1" indent="-285750">
                  <a:buFont typeface="Arial" panose="020B0604020202020204" pitchFamily="34" charset="0"/>
                  <a:buChar char="•"/>
                </a:pPr>
                <a:r>
                  <a:rPr lang="es-ES" dirty="0"/>
                  <a:t>Muchas variables independientes</a:t>
                </a:r>
                <a:endParaRPr lang="en-US" dirty="0"/>
              </a:p>
              <a:p>
                <a:pPr marL="742950" lvl="1" indent="-285750">
                  <a:buFont typeface="Arial" panose="020B0604020202020204" pitchFamily="34" charset="0"/>
                  <a:buChar char="•"/>
                </a:pPr>
                <a:r>
                  <a:rPr lang="es-ES" dirty="0"/>
                  <a:t>Multicolinealidad</a:t>
                </a:r>
                <a:endParaRPr lang="en-US" dirty="0"/>
              </a:p>
              <a:p>
                <a:pPr marL="742950" lvl="1" indent="-285750">
                  <a:buFont typeface="Arial" panose="020B0604020202020204" pitchFamily="34" charset="0"/>
                  <a:buChar char="•"/>
                </a:pPr>
                <a:r>
                  <a:rPr lang="es-ES" dirty="0"/>
                  <a:t>Necesidad de selección de variables</a:t>
                </a:r>
                <a:endParaRPr lang="en-US" dirty="0"/>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p:txBody>
          </p:sp>
        </mc:Choice>
        <mc:Fallback>
          <p:sp>
            <p:nvSpPr>
              <p:cNvPr id="19" name="TextBox 18">
                <a:extLst>
                  <a:ext uri="{FF2B5EF4-FFF2-40B4-BE49-F238E27FC236}">
                    <a16:creationId xmlns:a16="http://schemas.microsoft.com/office/drawing/2014/main" id="{77A8FC18-F9DD-8F78-AAF8-67980EA7332C}"/>
                  </a:ext>
                </a:extLst>
              </p:cNvPr>
              <p:cNvSpPr txBox="1">
                <a:spLocks noRot="1" noChangeAspect="1" noMove="1" noResize="1" noEditPoints="1" noAdjustHandles="1" noChangeArrowheads="1" noChangeShapeType="1" noTextEdit="1"/>
              </p:cNvSpPr>
              <p:nvPr/>
            </p:nvSpPr>
            <p:spPr>
              <a:xfrm>
                <a:off x="1189820" y="1211854"/>
                <a:ext cx="12338891" cy="7039748"/>
              </a:xfrm>
              <a:prstGeom prst="rect">
                <a:avLst/>
              </a:prstGeom>
              <a:blipFill>
                <a:blip r:embed="rId3"/>
                <a:stretch>
                  <a:fillRect l="-395" t="-519"/>
                </a:stretch>
              </a:blipFill>
            </p:spPr>
            <p:txBody>
              <a:bodyPr/>
              <a:lstStyle/>
              <a:p>
                <a:r>
                  <a:rPr lang="en-US">
                    <a:noFill/>
                  </a:rPr>
                  <a:t> </a:t>
                </a:r>
              </a:p>
            </p:txBody>
          </p:sp>
        </mc:Fallback>
      </mc:AlternateContent>
      <p:sp>
        <p:nvSpPr>
          <p:cNvPr id="2" name="TextBox 1">
            <a:extLst>
              <a:ext uri="{FF2B5EF4-FFF2-40B4-BE49-F238E27FC236}">
                <a16:creationId xmlns:a16="http://schemas.microsoft.com/office/drawing/2014/main" id="{01844304-366B-48FE-CB90-ADA4DCF133FD}"/>
              </a:ext>
            </a:extLst>
          </p:cNvPr>
          <p:cNvSpPr txBox="1"/>
          <p:nvPr/>
        </p:nvSpPr>
        <p:spPr>
          <a:xfrm>
            <a:off x="609072" y="566227"/>
            <a:ext cx="3202764" cy="461665"/>
          </a:xfrm>
          <a:prstGeom prst="rect">
            <a:avLst/>
          </a:prstGeom>
          <a:noFill/>
        </p:spPr>
        <p:txBody>
          <a:bodyPr wrap="square" rtlCol="0">
            <a:spAutoFit/>
          </a:bodyPr>
          <a:lstStyle/>
          <a:p>
            <a:r>
              <a:rPr lang="es-ES" sz="2400" dirty="0">
                <a:latin typeface="Source Sans 3" panose="020B0604020202020204" charset="0"/>
              </a:rPr>
              <a:t>Regularización</a:t>
            </a:r>
            <a:endParaRPr lang="en-US" dirty="0">
              <a:latin typeface="Source Sans 3" panose="020B0604020202020204" charset="0"/>
            </a:endParaRPr>
          </a:p>
        </p:txBody>
      </p:sp>
    </p:spTree>
    <p:extLst>
      <p:ext uri="{BB962C8B-B14F-4D97-AF65-F5344CB8AC3E}">
        <p14:creationId xmlns:p14="http://schemas.microsoft.com/office/powerpoint/2010/main" val="72762841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E8509E-A2CC-3D40-234A-14BBAD604E66}"/>
            </a:ext>
          </a:extLst>
        </p:cNvPr>
        <p:cNvGrpSpPr/>
        <p:nvPr/>
      </p:nvGrpSpPr>
      <p:grpSpPr>
        <a:xfrm>
          <a:off x="0" y="0"/>
          <a:ext cx="0" cy="0"/>
          <a:chOff x="0" y="0"/>
          <a:chExt cx="0" cy="0"/>
        </a:xfrm>
      </p:grpSpPr>
      <p:sp>
        <p:nvSpPr>
          <p:cNvPr id="5" name="Shape 3">
            <a:extLst>
              <a:ext uri="{FF2B5EF4-FFF2-40B4-BE49-F238E27FC236}">
                <a16:creationId xmlns:a16="http://schemas.microsoft.com/office/drawing/2014/main" id="{D6484075-B001-FAAB-D098-E1FE8FAA1446}"/>
              </a:ext>
            </a:extLst>
          </p:cNvPr>
          <p:cNvSpPr/>
          <p:nvPr/>
        </p:nvSpPr>
        <p:spPr>
          <a:xfrm>
            <a:off x="763310" y="1211853"/>
            <a:ext cx="121920" cy="6268717"/>
          </a:xfrm>
          <a:prstGeom prst="roundRect">
            <a:avLst>
              <a:gd name="adj" fmla="val 27907"/>
            </a:avLst>
          </a:prstGeom>
          <a:solidFill>
            <a:srgbClr val="325F7B"/>
          </a:solidFill>
          <a:ln/>
        </p:spPr>
        <p:txBody>
          <a:bodyPr/>
          <a:lstStyle/>
          <a:p>
            <a:endParaRPr lang="es-ES" noProof="0" dirty="0"/>
          </a:p>
        </p:txBody>
      </p:sp>
      <mc:AlternateContent xmlns:mc="http://schemas.openxmlformats.org/markup-compatibility/2006">
        <mc:Choice xmlns:a14="http://schemas.microsoft.com/office/drawing/2010/main" Requires="a14">
          <p:sp>
            <p:nvSpPr>
              <p:cNvPr id="19" name="TextBox 18">
                <a:extLst>
                  <a:ext uri="{FF2B5EF4-FFF2-40B4-BE49-F238E27FC236}">
                    <a16:creationId xmlns:a16="http://schemas.microsoft.com/office/drawing/2014/main" id="{64B02241-C90D-C311-DE29-BB602297B4E4}"/>
                  </a:ext>
                </a:extLst>
              </p:cNvPr>
              <p:cNvSpPr txBox="1"/>
              <p:nvPr/>
            </p:nvSpPr>
            <p:spPr>
              <a:xfrm>
                <a:off x="1189820" y="1211854"/>
                <a:ext cx="12338891" cy="4557851"/>
              </a:xfrm>
              <a:prstGeom prst="rect">
                <a:avLst/>
              </a:prstGeom>
              <a:noFill/>
            </p:spPr>
            <p:txBody>
              <a:bodyPr wrap="square" rtlCol="0">
                <a:spAutoFit/>
              </a:bodyPr>
              <a:lstStyle/>
              <a:p>
                <a:pPr marL="285750" indent="-285750">
                  <a:buFont typeface="Arial" panose="020B0604020202020204" pitchFamily="34" charset="0"/>
                  <a:buChar char="•"/>
                </a:pPr>
                <a:r>
                  <a:rPr lang="es-ES" dirty="0"/>
                  <a:t>LASSO (</a:t>
                </a:r>
                <a:r>
                  <a:rPr lang="es-ES" dirty="0" err="1"/>
                  <a:t>Least</a:t>
                </a:r>
                <a:r>
                  <a:rPr lang="es-ES" dirty="0"/>
                  <a:t> Absolute </a:t>
                </a:r>
                <a:r>
                  <a:rPr lang="es-ES" dirty="0" err="1"/>
                  <a:t>Shrinkage</a:t>
                </a:r>
                <a:r>
                  <a:rPr lang="es-ES" dirty="0"/>
                  <a:t> and </a:t>
                </a:r>
                <a:r>
                  <a:rPr lang="es-ES" dirty="0" err="1"/>
                  <a:t>Selection</a:t>
                </a:r>
                <a:r>
                  <a:rPr lang="es-ES" dirty="0"/>
                  <a:t> </a:t>
                </a:r>
                <a:r>
                  <a:rPr lang="es-ES" dirty="0" err="1"/>
                  <a:t>Operator</a:t>
                </a:r>
                <a:r>
                  <a:rPr lang="es-ES" dirty="0"/>
                  <a:t>) es regularización con penalidad L1. Matemáticamente: </a:t>
                </a:r>
                <a:br>
                  <a:rPr lang="es-ES" i="1" dirty="0"/>
                </a:br>
                <a14:m>
                  <m:oMath xmlns:m="http://schemas.openxmlformats.org/officeDocument/2006/math">
                    <m:sSup>
                      <m:sSupPr>
                        <m:ctrlPr>
                          <a:rPr lang="en-US" i="1">
                            <a:latin typeface="Cambria Math" panose="02040503050406030204" pitchFamily="18" charset="0"/>
                          </a:rPr>
                        </m:ctrlPr>
                      </m:sSupPr>
                      <m:e>
                        <m:func>
                          <m:funcPr>
                            <m:ctrlPr>
                              <a:rPr lang="en-US" i="1">
                                <a:latin typeface="Cambria Math" panose="02040503050406030204" pitchFamily="18" charset="0"/>
                              </a:rPr>
                            </m:ctrlPr>
                          </m:funcPr>
                          <m:fName>
                            <m:limLow>
                              <m:limLowPr>
                                <m:ctrlPr>
                                  <a:rPr lang="en-US" i="1">
                                    <a:latin typeface="Cambria Math" panose="02040503050406030204" pitchFamily="18" charset="0"/>
                                  </a:rPr>
                                </m:ctrlPr>
                              </m:limLowPr>
                              <m:e>
                                <m:r>
                                  <m:rPr>
                                    <m:sty m:val="p"/>
                                  </m:rPr>
                                  <a:rPr lang="es-ES">
                                    <a:latin typeface="Cambria Math" panose="02040503050406030204" pitchFamily="18" charset="0"/>
                                  </a:rPr>
                                  <m:t>min</m:t>
                                </m:r>
                              </m:e>
                              <m:lim>
                                <m:r>
                                  <a:rPr lang="es-ES" i="1">
                                    <a:latin typeface="Cambria Math" panose="02040503050406030204" pitchFamily="18" charset="0"/>
                                  </a:rPr>
                                  <m:t>𝛽</m:t>
                                </m:r>
                              </m:lim>
                            </m:limLow>
                          </m:fName>
                          <m:e>
                            <m:nary>
                              <m:naryPr>
                                <m:chr m:val="∑"/>
                                <m:limLoc m:val="undOvr"/>
                                <m:ctrlPr>
                                  <a:rPr lang="en-US" i="1">
                                    <a:latin typeface="Cambria Math" panose="02040503050406030204" pitchFamily="18" charset="0"/>
                                  </a:rPr>
                                </m:ctrlPr>
                              </m:naryPr>
                              <m:sub>
                                <m:r>
                                  <a:rPr lang="es-ES" i="1">
                                    <a:latin typeface="Cambria Math" panose="02040503050406030204" pitchFamily="18" charset="0"/>
                                  </a:rPr>
                                  <m:t>𝑖</m:t>
                                </m:r>
                                <m:r>
                                  <a:rPr lang="es-ES" i="1">
                                    <a:latin typeface="Cambria Math" panose="02040503050406030204" pitchFamily="18" charset="0"/>
                                  </a:rPr>
                                  <m:t>=1</m:t>
                                </m:r>
                              </m:sub>
                              <m:sup>
                                <m:r>
                                  <a:rPr lang="es-ES" i="1">
                                    <a:latin typeface="Cambria Math" panose="02040503050406030204" pitchFamily="18" charset="0"/>
                                  </a:rPr>
                                  <m:t>𝑛</m:t>
                                </m:r>
                              </m:sup>
                              <m:e>
                                <m:r>
                                  <a:rPr lang="es-ES" i="1">
                                    <a:latin typeface="Cambria Math" panose="02040503050406030204" pitchFamily="18" charset="0"/>
                                  </a:rPr>
                                  <m:t>(</m:t>
                                </m:r>
                                <m:sSub>
                                  <m:sSubPr>
                                    <m:ctrlPr>
                                      <a:rPr lang="en-US" i="1">
                                        <a:latin typeface="Cambria Math" panose="02040503050406030204" pitchFamily="18" charset="0"/>
                                      </a:rPr>
                                    </m:ctrlPr>
                                  </m:sSubPr>
                                  <m:e>
                                    <m:r>
                                      <a:rPr lang="es-ES" i="1">
                                        <a:latin typeface="Cambria Math" panose="02040503050406030204" pitchFamily="18" charset="0"/>
                                      </a:rPr>
                                      <m:t>𝑦</m:t>
                                    </m:r>
                                  </m:e>
                                  <m:sub>
                                    <m:r>
                                      <a:rPr lang="es-ES" i="1">
                                        <a:latin typeface="Cambria Math" panose="02040503050406030204" pitchFamily="18" charset="0"/>
                                      </a:rPr>
                                      <m:t>𝑖</m:t>
                                    </m:r>
                                  </m:sub>
                                </m:sSub>
                                <m:r>
                                  <a:rPr lang="es-ES" i="1">
                                    <a:latin typeface="Cambria Math" panose="02040503050406030204" pitchFamily="18" charset="0"/>
                                  </a:rPr>
                                  <m:t>−</m:t>
                                </m:r>
                                <m:sSubSup>
                                  <m:sSubSupPr>
                                    <m:ctrlPr>
                                      <a:rPr lang="en-US" i="1">
                                        <a:latin typeface="Cambria Math" panose="02040503050406030204" pitchFamily="18" charset="0"/>
                                      </a:rPr>
                                    </m:ctrlPr>
                                  </m:sSubSupPr>
                                  <m:e>
                                    <m:r>
                                      <a:rPr lang="es-ES" i="1">
                                        <a:latin typeface="Cambria Math" panose="02040503050406030204" pitchFamily="18" charset="0"/>
                                      </a:rPr>
                                      <m:t>𝑥</m:t>
                                    </m:r>
                                  </m:e>
                                  <m:sub>
                                    <m:r>
                                      <a:rPr lang="es-ES" i="1">
                                        <a:latin typeface="Cambria Math" panose="02040503050406030204" pitchFamily="18" charset="0"/>
                                      </a:rPr>
                                      <m:t>𝑖</m:t>
                                    </m:r>
                                  </m:sub>
                                  <m:sup>
                                    <m:r>
                                      <a:rPr lang="es-ES" i="1">
                                        <a:latin typeface="Cambria Math" panose="02040503050406030204" pitchFamily="18" charset="0"/>
                                      </a:rPr>
                                      <m:t>𝑇</m:t>
                                    </m:r>
                                  </m:sup>
                                </m:sSubSup>
                                <m:r>
                                  <a:rPr lang="es-ES" i="1">
                                    <a:latin typeface="Cambria Math" panose="02040503050406030204" pitchFamily="18" charset="0"/>
                                  </a:rPr>
                                  <m:t>𝛽</m:t>
                                </m:r>
                                <m:r>
                                  <a:rPr lang="es-ES" i="1">
                                    <a:latin typeface="Cambria Math" panose="02040503050406030204" pitchFamily="18" charset="0"/>
                                  </a:rPr>
                                  <m:t>)</m:t>
                                </m:r>
                              </m:e>
                            </m:nary>
                          </m:e>
                        </m:func>
                      </m:e>
                      <m:sup>
                        <m:r>
                          <a:rPr lang="es-ES" i="1">
                            <a:latin typeface="Cambria Math" panose="02040503050406030204" pitchFamily="18" charset="0"/>
                          </a:rPr>
                          <m:t>2</m:t>
                        </m:r>
                      </m:sup>
                    </m:sSup>
                    <m:r>
                      <a:rPr lang="es-ES" i="1">
                        <a:latin typeface="Cambria Math" panose="02040503050406030204" pitchFamily="18" charset="0"/>
                      </a:rPr>
                      <m:t>+</m:t>
                    </m:r>
                    <m:r>
                      <a:rPr lang="es-ES" i="1">
                        <a:latin typeface="Cambria Math" panose="02040503050406030204" pitchFamily="18" charset="0"/>
                      </a:rPr>
                      <m:t>𝜆</m:t>
                    </m:r>
                    <m:nary>
                      <m:naryPr>
                        <m:chr m:val="∑"/>
                        <m:limLoc m:val="undOvr"/>
                        <m:ctrlPr>
                          <a:rPr lang="en-US" i="1">
                            <a:latin typeface="Cambria Math" panose="02040503050406030204" pitchFamily="18" charset="0"/>
                          </a:rPr>
                        </m:ctrlPr>
                      </m:naryPr>
                      <m:sub>
                        <m:r>
                          <a:rPr lang="es-ES" i="1">
                            <a:latin typeface="Cambria Math" panose="02040503050406030204" pitchFamily="18" charset="0"/>
                          </a:rPr>
                          <m:t>𝑗</m:t>
                        </m:r>
                        <m:r>
                          <a:rPr lang="es-ES" i="1">
                            <a:latin typeface="Cambria Math" panose="02040503050406030204" pitchFamily="18" charset="0"/>
                          </a:rPr>
                          <m:t>=1</m:t>
                        </m:r>
                      </m:sub>
                      <m:sup>
                        <m:r>
                          <a:rPr lang="es-ES" i="1">
                            <a:latin typeface="Cambria Math" panose="02040503050406030204" pitchFamily="18" charset="0"/>
                          </a:rPr>
                          <m:t>𝑘</m:t>
                        </m:r>
                      </m:sup>
                      <m:e>
                        <m:d>
                          <m:dPr>
                            <m:begChr m:val="|"/>
                            <m:endChr m:val="|"/>
                            <m:ctrlPr>
                              <a:rPr lang="en-US" i="1">
                                <a:latin typeface="Cambria Math" panose="02040503050406030204" pitchFamily="18" charset="0"/>
                              </a:rPr>
                            </m:ctrlPr>
                          </m:dPr>
                          <m:e>
                            <m:sSub>
                              <m:sSubPr>
                                <m:ctrlPr>
                                  <a:rPr lang="en-US" i="1">
                                    <a:latin typeface="Cambria Math" panose="02040503050406030204" pitchFamily="18" charset="0"/>
                                  </a:rPr>
                                </m:ctrlPr>
                              </m:sSubPr>
                              <m:e>
                                <m:r>
                                  <a:rPr lang="es-ES" i="1">
                                    <a:latin typeface="Cambria Math" panose="02040503050406030204" pitchFamily="18" charset="0"/>
                                  </a:rPr>
                                  <m:t>𝛽</m:t>
                                </m:r>
                              </m:e>
                              <m:sub>
                                <m:r>
                                  <a:rPr lang="es-ES" i="1">
                                    <a:latin typeface="Cambria Math" panose="02040503050406030204" pitchFamily="18" charset="0"/>
                                  </a:rPr>
                                  <m:t>𝑗</m:t>
                                </m:r>
                              </m:sub>
                            </m:sSub>
                          </m:e>
                        </m:d>
                      </m:e>
                    </m:nary>
                    <m:r>
                      <a:rPr lang="es-ES" i="1">
                        <a:latin typeface="Cambria Math" panose="02040503050406030204" pitchFamily="18" charset="0"/>
                      </a:rPr>
                      <m:t> </m:t>
                    </m:r>
                  </m:oMath>
                </a14:m>
                <a:endParaRPr lang="en-US" dirty="0"/>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s-ES" dirty="0"/>
                  <a:t>La propiedad distintiva del LASSO es que puede dejar coeficientes exactamente en cero: Si </a:t>
                </a:r>
                <a14:m>
                  <m:oMath xmlns:m="http://schemas.openxmlformats.org/officeDocument/2006/math">
                    <m:r>
                      <a:rPr lang="es-ES" i="1">
                        <a:latin typeface="Cambria Math" panose="02040503050406030204" pitchFamily="18" charset="0"/>
                      </a:rPr>
                      <m:t>𝜆</m:t>
                    </m:r>
                  </m:oMath>
                </a14:m>
                <a:r>
                  <a:rPr lang="es-ES" dirty="0"/>
                  <a:t> aumenta lo suficiente, los </a:t>
                </a:r>
                <a14:m>
                  <m:oMath xmlns:m="http://schemas.openxmlformats.org/officeDocument/2006/math">
                    <m:sSub>
                      <m:sSubPr>
                        <m:ctrlPr>
                          <a:rPr lang="en-US" i="1">
                            <a:latin typeface="Cambria Math" panose="02040503050406030204" pitchFamily="18" charset="0"/>
                          </a:rPr>
                        </m:ctrlPr>
                      </m:sSubPr>
                      <m:e>
                        <m:r>
                          <a:rPr lang="es-ES" i="1">
                            <a:latin typeface="Cambria Math" panose="02040503050406030204" pitchFamily="18" charset="0"/>
                          </a:rPr>
                          <m:t>𝛽</m:t>
                        </m:r>
                      </m:e>
                      <m:sub>
                        <m:r>
                          <a:rPr lang="es-ES" i="1">
                            <a:latin typeface="Cambria Math" panose="02040503050406030204" pitchFamily="18" charset="0"/>
                          </a:rPr>
                          <m:t>𝑗</m:t>
                        </m:r>
                      </m:sub>
                    </m:sSub>
                  </m:oMath>
                </a14:m>
                <a:r>
                  <a:rPr lang="es-ES" dirty="0"/>
                  <a:t> eventualmente son cero. Esto implica selección automática de variables y un modelo más parsimonioso.</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s-ES" dirty="0"/>
                  <a:t>En otras palabras, LASSO elige un subconjunto de regresores que considera “útiles” para explicar/</a:t>
                </a:r>
                <a:r>
                  <a:rPr lang="es-ES" dirty="0" err="1"/>
                  <a:t>predicir</a:t>
                </a:r>
                <a:r>
                  <a:rPr lang="es-ES" dirty="0"/>
                  <a:t> 𝑦, mientras achica el resto a cero.​</a:t>
                </a:r>
              </a:p>
              <a:p>
                <a:pPr marL="285750" indent="-285750">
                  <a:buFont typeface="Arial" panose="020B0604020202020204" pitchFamily="34" charset="0"/>
                  <a:buChar char="•"/>
                </a:pPr>
                <a:endParaRPr lang="en-US" dirty="0"/>
              </a:p>
              <a:p>
                <a:pPr marL="285750" lvl="0" indent="-285750">
                  <a:buFont typeface="Arial" panose="020B0604020202020204" pitchFamily="34" charset="0"/>
                  <a:buChar char="•"/>
                </a:pPr>
                <a:r>
                  <a:rPr lang="es-ES" dirty="0"/>
                  <a:t>Estandarización: en la práctica, siempre se estandarizan los regresores (media 0, varianza 1) antes de LASSO; si no, la penalidad castiga de manera desigual según escala.</a:t>
                </a:r>
              </a:p>
              <a:p>
                <a:pPr marL="285750" lvl="0" indent="-285750">
                  <a:buFont typeface="Arial" panose="020B0604020202020204" pitchFamily="34" charset="0"/>
                  <a:buChar char="•"/>
                </a:pPr>
                <a:endParaRPr lang="es-ES" dirty="0"/>
              </a:p>
              <a:p>
                <a:pPr marL="285750" lvl="0" indent="-285750">
                  <a:buFont typeface="Arial" panose="020B0604020202020204" pitchFamily="34" charset="0"/>
                  <a:buChar char="•"/>
                </a:pPr>
                <a:r>
                  <a:rPr lang="es-ES" dirty="0"/>
                  <a:t>Gráficamente:</a:t>
                </a:r>
              </a:p>
              <a:p>
                <a:pPr marL="285750" lvl="0" indent="-285750">
                  <a:buFont typeface="Arial" panose="020B0604020202020204" pitchFamily="34" charset="0"/>
                  <a:buChar char="•"/>
                </a:pPr>
                <a:endParaRPr lang="es-ES" dirty="0"/>
              </a:p>
            </p:txBody>
          </p:sp>
        </mc:Choice>
        <mc:Fallback>
          <p:sp>
            <p:nvSpPr>
              <p:cNvPr id="19" name="TextBox 18">
                <a:extLst>
                  <a:ext uri="{FF2B5EF4-FFF2-40B4-BE49-F238E27FC236}">
                    <a16:creationId xmlns:a16="http://schemas.microsoft.com/office/drawing/2014/main" id="{64B02241-C90D-C311-DE29-BB602297B4E4}"/>
                  </a:ext>
                </a:extLst>
              </p:cNvPr>
              <p:cNvSpPr txBox="1">
                <a:spLocks noRot="1" noChangeAspect="1" noMove="1" noResize="1" noEditPoints="1" noAdjustHandles="1" noChangeArrowheads="1" noChangeShapeType="1" noTextEdit="1"/>
              </p:cNvSpPr>
              <p:nvPr/>
            </p:nvSpPr>
            <p:spPr>
              <a:xfrm>
                <a:off x="1189820" y="1211854"/>
                <a:ext cx="12338891" cy="4557851"/>
              </a:xfrm>
              <a:prstGeom prst="rect">
                <a:avLst/>
              </a:prstGeom>
              <a:blipFill>
                <a:blip r:embed="rId3"/>
                <a:stretch>
                  <a:fillRect l="-296" t="-803"/>
                </a:stretch>
              </a:blipFill>
            </p:spPr>
            <p:txBody>
              <a:bodyPr/>
              <a:lstStyle/>
              <a:p>
                <a:r>
                  <a:rPr lang="en-US">
                    <a:noFill/>
                  </a:rPr>
                  <a:t> </a:t>
                </a:r>
              </a:p>
            </p:txBody>
          </p:sp>
        </mc:Fallback>
      </mc:AlternateContent>
      <p:sp>
        <p:nvSpPr>
          <p:cNvPr id="2" name="TextBox 1">
            <a:extLst>
              <a:ext uri="{FF2B5EF4-FFF2-40B4-BE49-F238E27FC236}">
                <a16:creationId xmlns:a16="http://schemas.microsoft.com/office/drawing/2014/main" id="{BE984E37-D763-21A2-0FFD-ACBB39869B0F}"/>
              </a:ext>
            </a:extLst>
          </p:cNvPr>
          <p:cNvSpPr txBox="1"/>
          <p:nvPr/>
        </p:nvSpPr>
        <p:spPr>
          <a:xfrm>
            <a:off x="609072" y="566227"/>
            <a:ext cx="3863776" cy="461665"/>
          </a:xfrm>
          <a:prstGeom prst="rect">
            <a:avLst/>
          </a:prstGeom>
          <a:noFill/>
        </p:spPr>
        <p:txBody>
          <a:bodyPr wrap="square" rtlCol="0">
            <a:spAutoFit/>
          </a:bodyPr>
          <a:lstStyle/>
          <a:p>
            <a:r>
              <a:rPr lang="es-ES" sz="2400" dirty="0">
                <a:latin typeface="Source Sans 3" panose="020B0604020202020204" charset="0"/>
              </a:rPr>
              <a:t>Regularización de Lasso (L1)</a:t>
            </a:r>
            <a:endParaRPr lang="en-US" dirty="0">
              <a:latin typeface="Source Sans 3" panose="020B0604020202020204" charset="0"/>
            </a:endParaRPr>
          </a:p>
        </p:txBody>
      </p:sp>
      <p:pic>
        <p:nvPicPr>
          <p:cNvPr id="4" name="Picture 3" descr="Chapter 54 Supervised Statistical Learning Using Lasso Regression | R for  HR: An Introduction to Human Resource Analytics Using R">
            <a:extLst>
              <a:ext uri="{FF2B5EF4-FFF2-40B4-BE49-F238E27FC236}">
                <a16:creationId xmlns:a16="http://schemas.microsoft.com/office/drawing/2014/main" id="{73840F97-E6F1-2D76-6A48-0AC174AF741E}"/>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790577" y="5040216"/>
            <a:ext cx="4131854" cy="2324271"/>
          </a:xfrm>
          <a:prstGeom prst="rect">
            <a:avLst/>
          </a:prstGeom>
          <a:noFill/>
          <a:ln>
            <a:noFill/>
          </a:ln>
        </p:spPr>
      </p:pic>
      <mc:AlternateContent xmlns:mc="http://schemas.openxmlformats.org/markup-compatibility/2006">
        <mc:Choice xmlns:p14="http://schemas.microsoft.com/office/powerpoint/2010/main" Requires="p14">
          <p:contentPart p14:bwMode="auto" r:id="rId5">
            <p14:nvContentPartPr>
              <p14:cNvPr id="28" name="Ink 27">
                <a:extLst>
                  <a:ext uri="{FF2B5EF4-FFF2-40B4-BE49-F238E27FC236}">
                    <a16:creationId xmlns:a16="http://schemas.microsoft.com/office/drawing/2014/main" id="{8E8A8FC1-A3F0-5CC0-B47B-4BCE4D4B0AE4}"/>
                  </a:ext>
                </a:extLst>
              </p14:cNvPr>
              <p14:cNvContentPartPr/>
              <p14:nvPr/>
            </p14:nvContentPartPr>
            <p14:xfrm>
              <a:off x="7207000" y="6083245"/>
              <a:ext cx="394560" cy="720"/>
            </p14:xfrm>
          </p:contentPart>
        </mc:Choice>
        <mc:Fallback>
          <p:pic>
            <p:nvPicPr>
              <p:cNvPr id="28" name="Ink 27">
                <a:extLst>
                  <a:ext uri="{FF2B5EF4-FFF2-40B4-BE49-F238E27FC236}">
                    <a16:creationId xmlns:a16="http://schemas.microsoft.com/office/drawing/2014/main" id="{8E8A8FC1-A3F0-5CC0-B47B-4BCE4D4B0AE4}"/>
                  </a:ext>
                </a:extLst>
              </p:cNvPr>
              <p:cNvPicPr/>
              <p:nvPr/>
            </p:nvPicPr>
            <p:blipFill>
              <a:blip r:embed="rId6"/>
              <a:stretch>
                <a:fillRect/>
              </a:stretch>
            </p:blipFill>
            <p:spPr>
              <a:xfrm>
                <a:off x="7200880" y="6071005"/>
                <a:ext cx="406800" cy="25200"/>
              </a:xfrm>
              <a:prstGeom prst="rect">
                <a:avLst/>
              </a:prstGeom>
            </p:spPr>
          </p:pic>
        </mc:Fallback>
      </mc:AlternateContent>
    </p:spTree>
    <p:extLst>
      <p:ext uri="{BB962C8B-B14F-4D97-AF65-F5344CB8AC3E}">
        <p14:creationId xmlns:p14="http://schemas.microsoft.com/office/powerpoint/2010/main" val="111883725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4F9920-7EA0-8B8C-FF2B-620DEB1B1417}"/>
            </a:ext>
          </a:extLst>
        </p:cNvPr>
        <p:cNvGrpSpPr/>
        <p:nvPr/>
      </p:nvGrpSpPr>
      <p:grpSpPr>
        <a:xfrm>
          <a:off x="0" y="0"/>
          <a:ext cx="0" cy="0"/>
          <a:chOff x="0" y="0"/>
          <a:chExt cx="0" cy="0"/>
        </a:xfrm>
      </p:grpSpPr>
      <p:sp>
        <p:nvSpPr>
          <p:cNvPr id="5" name="Shape 3">
            <a:extLst>
              <a:ext uri="{FF2B5EF4-FFF2-40B4-BE49-F238E27FC236}">
                <a16:creationId xmlns:a16="http://schemas.microsoft.com/office/drawing/2014/main" id="{18A77A32-AAFD-02D4-0827-1FE4FF5A9237}"/>
              </a:ext>
            </a:extLst>
          </p:cNvPr>
          <p:cNvSpPr/>
          <p:nvPr/>
        </p:nvSpPr>
        <p:spPr>
          <a:xfrm>
            <a:off x="763310" y="1211853"/>
            <a:ext cx="121920" cy="6112872"/>
          </a:xfrm>
          <a:prstGeom prst="roundRect">
            <a:avLst>
              <a:gd name="adj" fmla="val 27907"/>
            </a:avLst>
          </a:prstGeom>
          <a:solidFill>
            <a:srgbClr val="325F7B"/>
          </a:solidFill>
          <a:ln/>
        </p:spPr>
        <p:txBody>
          <a:bodyPr/>
          <a:lstStyle/>
          <a:p>
            <a:endParaRPr lang="es-ES" noProof="0" dirty="0"/>
          </a:p>
        </p:txBody>
      </p:sp>
      <mc:AlternateContent xmlns:mc="http://schemas.openxmlformats.org/markup-compatibility/2006">
        <mc:Choice xmlns:a14="http://schemas.microsoft.com/office/drawing/2010/main" Requires="a14">
          <p:sp>
            <p:nvSpPr>
              <p:cNvPr id="19" name="TextBox 18">
                <a:extLst>
                  <a:ext uri="{FF2B5EF4-FFF2-40B4-BE49-F238E27FC236}">
                    <a16:creationId xmlns:a16="http://schemas.microsoft.com/office/drawing/2014/main" id="{006B6639-7B9A-3842-4574-0D7A0EF36B75}"/>
                  </a:ext>
                </a:extLst>
              </p:cNvPr>
              <p:cNvSpPr txBox="1"/>
              <p:nvPr/>
            </p:nvSpPr>
            <p:spPr>
              <a:xfrm>
                <a:off x="1189820" y="1211854"/>
                <a:ext cx="12338891" cy="4256486"/>
              </a:xfrm>
              <a:prstGeom prst="rect">
                <a:avLst/>
              </a:prstGeom>
              <a:noFill/>
            </p:spPr>
            <p:txBody>
              <a:bodyPr wrap="square" rtlCol="0">
                <a:spAutoFit/>
              </a:bodyPr>
              <a:lstStyle/>
              <a:p>
                <a:pPr marL="285750" indent="-285750">
                  <a:buFont typeface="Arial" panose="020B0604020202020204" pitchFamily="34" charset="0"/>
                  <a:buChar char="•"/>
                </a:pPr>
                <a:r>
                  <a:rPr lang="es-ES" dirty="0"/>
                  <a:t>Este método aprovecha la posibilidad que da la regresión bayesiana de elegir distribuciones de probabilidad para las </a:t>
                </a:r>
                <a:r>
                  <a:rPr lang="es-ES" dirty="0" err="1"/>
                  <a:t>priors</a:t>
                </a:r>
                <a:r>
                  <a:rPr lang="es-ES" dirty="0"/>
                  <a:t> de los parámetros. </a:t>
                </a:r>
              </a:p>
              <a:p>
                <a:endParaRPr lang="en-US" dirty="0"/>
              </a:p>
              <a:p>
                <a:pPr marL="285750" indent="-285750">
                  <a:buFont typeface="Arial" panose="020B0604020202020204" pitchFamily="34" charset="0"/>
                  <a:buChar char="•"/>
                </a:pPr>
                <a:r>
                  <a:rPr lang="es-ES" dirty="0"/>
                  <a:t>El </a:t>
                </a:r>
                <a:r>
                  <a:rPr lang="es-ES" dirty="0" err="1"/>
                  <a:t>Bayesian</a:t>
                </a:r>
                <a:r>
                  <a:rPr lang="es-ES" dirty="0"/>
                  <a:t> Lasso es un método de regresión lineal bayesiana pensado para </a:t>
                </a:r>
                <a:r>
                  <a:rPr lang="es-ES" i="1" dirty="0" err="1"/>
                  <a:t>shrinkage</a:t>
                </a:r>
                <a:r>
                  <a:rPr lang="es-ES" dirty="0"/>
                  <a:t> fuerte y (casi) selección de variables, que se logra imponiendo una prior que empuja los coeficientes hacia cero de forma más agresiva que una prior gaussiana.</a:t>
                </a:r>
                <a:endParaRPr lang="en-US" dirty="0"/>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s-ES" dirty="0"/>
                  <a:t>Asume una prior de Laplace (doble exponencial) independiente para cada </a:t>
                </a:r>
                <a14:m>
                  <m:oMath xmlns:m="http://schemas.openxmlformats.org/officeDocument/2006/math">
                    <m:sSub>
                      <m:sSubPr>
                        <m:ctrlPr>
                          <a:rPr lang="en-US" i="1">
                            <a:latin typeface="Cambria Math" panose="02040503050406030204" pitchFamily="18" charset="0"/>
                          </a:rPr>
                        </m:ctrlPr>
                      </m:sSubPr>
                      <m:e>
                        <m:r>
                          <a:rPr lang="es-ES" i="1">
                            <a:latin typeface="Cambria Math" panose="02040503050406030204" pitchFamily="18" charset="0"/>
                          </a:rPr>
                          <m:t>𝛽</m:t>
                        </m:r>
                      </m:e>
                      <m:sub>
                        <m:r>
                          <a:rPr lang="es-ES" i="1">
                            <a:latin typeface="Cambria Math" panose="02040503050406030204" pitchFamily="18" charset="0"/>
                          </a:rPr>
                          <m:t>𝑗</m:t>
                        </m:r>
                      </m:sub>
                    </m:sSub>
                  </m:oMath>
                </a14:m>
                <a:r>
                  <a:rPr lang="es-ES" dirty="0"/>
                  <a:t>, centrado en 0. Intuitivamente:</a:t>
                </a:r>
                <a:endParaRPr lang="en-US" dirty="0"/>
              </a:p>
              <a:p>
                <a:pPr marL="742950" lvl="1" indent="-285750">
                  <a:buFont typeface="Arial" panose="020B0604020202020204" pitchFamily="34" charset="0"/>
                  <a:buChar char="•"/>
                </a:pPr>
                <a:r>
                  <a:rPr lang="es-ES" sz="1600" dirty="0"/>
                  <a:t>La prior tiene un pico muy pronunciado en cero =&gt; favorece que muchos coeficientes queden muy cerca de cero. </a:t>
                </a:r>
                <a:endParaRPr lang="en-US" sz="1600" dirty="0"/>
              </a:p>
              <a:p>
                <a:pPr marL="742950" lvl="1" indent="-285750">
                  <a:buFont typeface="Arial" panose="020B0604020202020204" pitchFamily="34" charset="0"/>
                  <a:buChar char="•"/>
                </a:pPr>
                <a:r>
                  <a:rPr lang="es-ES" sz="1600" dirty="0"/>
                  <a:t>Mantiene colas mas pesadas que una normal =&gt; permite que algunos coeficientes “escapen” si los datos lo justifican. </a:t>
                </a:r>
              </a:p>
              <a:p>
                <a:pPr marL="285750" lvl="0" indent="-285750">
                  <a:buFont typeface="Arial" panose="020B0604020202020204" pitchFamily="34" charset="0"/>
                  <a:buChar char="•"/>
                </a:pPr>
                <a:endParaRPr lang="en-US" dirty="0"/>
              </a:p>
              <a:p>
                <a:pPr marL="285750" indent="-285750">
                  <a:buFont typeface="Arial" panose="020B0604020202020204" pitchFamily="34" charset="0"/>
                  <a:buChar char="•"/>
                </a:pPr>
                <a:r>
                  <a:rPr lang="es-ES" dirty="0"/>
                  <a:t>En la formulación de Park &amp; Casella (2012), la prior se especifica condicional a </a:t>
                </a:r>
                <a14:m>
                  <m:oMath xmlns:m="http://schemas.openxmlformats.org/officeDocument/2006/math">
                    <m:sSup>
                      <m:sSupPr>
                        <m:ctrlPr>
                          <a:rPr lang="en-US" i="1">
                            <a:latin typeface="Cambria Math" panose="02040503050406030204" pitchFamily="18" charset="0"/>
                          </a:rPr>
                        </m:ctrlPr>
                      </m:sSupPr>
                      <m:e>
                        <m:r>
                          <a:rPr lang="es-ES" i="1">
                            <a:latin typeface="Cambria Math" panose="02040503050406030204" pitchFamily="18" charset="0"/>
                          </a:rPr>
                          <m:t>𝜎</m:t>
                        </m:r>
                      </m:e>
                      <m:sup>
                        <m:r>
                          <a:rPr lang="es-ES" i="1">
                            <a:latin typeface="Cambria Math" panose="02040503050406030204" pitchFamily="18" charset="0"/>
                          </a:rPr>
                          <m:t>2</m:t>
                        </m:r>
                      </m:sup>
                    </m:sSup>
                  </m:oMath>
                </a14:m>
                <a:r>
                  <a:rPr lang="es-ES" dirty="0"/>
                  <a:t> : </a:t>
                </a:r>
                <a:endParaRPr lang="en-US" dirty="0"/>
              </a:p>
              <a:p>
                <a:pPr/>
                <a14:m>
                  <m:oMathPara xmlns:m="http://schemas.openxmlformats.org/officeDocument/2006/math">
                    <m:oMathParaPr>
                      <m:jc m:val="centerGroup"/>
                    </m:oMathParaPr>
                    <m:oMath xmlns:m="http://schemas.openxmlformats.org/officeDocument/2006/math">
                      <m:r>
                        <a:rPr lang="es-ES" i="1">
                          <a:latin typeface="Cambria Math" panose="02040503050406030204" pitchFamily="18" charset="0"/>
                        </a:rPr>
                        <m:t>𝜋</m:t>
                      </m:r>
                      <m:d>
                        <m:dPr>
                          <m:ctrlPr>
                            <a:rPr lang="en-US" i="1">
                              <a:latin typeface="Cambria Math" panose="02040503050406030204" pitchFamily="18" charset="0"/>
                            </a:rPr>
                          </m:ctrlPr>
                        </m:dPr>
                        <m:e>
                          <m:r>
                            <a:rPr lang="es-ES" i="1">
                              <a:latin typeface="Cambria Math" panose="02040503050406030204" pitchFamily="18" charset="0"/>
                            </a:rPr>
                            <m:t>𝛽</m:t>
                          </m:r>
                        </m:e>
                        <m:e>
                          <m:sSup>
                            <m:sSupPr>
                              <m:ctrlPr>
                                <a:rPr lang="en-US" i="1">
                                  <a:latin typeface="Cambria Math" panose="02040503050406030204" pitchFamily="18" charset="0"/>
                                </a:rPr>
                              </m:ctrlPr>
                            </m:sSupPr>
                            <m:e>
                              <m:r>
                                <a:rPr lang="es-ES" i="1">
                                  <a:latin typeface="Cambria Math" panose="02040503050406030204" pitchFamily="18" charset="0"/>
                                </a:rPr>
                                <m:t>𝜎</m:t>
                              </m:r>
                            </m:e>
                            <m:sup>
                              <m:r>
                                <a:rPr lang="es-ES" i="1">
                                  <a:latin typeface="Cambria Math" panose="02040503050406030204" pitchFamily="18" charset="0"/>
                                </a:rPr>
                                <m:t>2</m:t>
                              </m:r>
                            </m:sup>
                          </m:sSup>
                        </m:e>
                      </m:d>
                      <m:r>
                        <a:rPr lang="es-ES" i="1">
                          <a:latin typeface="Cambria Math" panose="02040503050406030204" pitchFamily="18" charset="0"/>
                        </a:rPr>
                        <m:t>∝</m:t>
                      </m:r>
                      <m:nary>
                        <m:naryPr>
                          <m:chr m:val="∏"/>
                          <m:limLoc m:val="undOvr"/>
                          <m:ctrlPr>
                            <a:rPr lang="en-US" i="1">
                              <a:latin typeface="Cambria Math" panose="02040503050406030204" pitchFamily="18" charset="0"/>
                            </a:rPr>
                          </m:ctrlPr>
                        </m:naryPr>
                        <m:sub>
                          <m:r>
                            <a:rPr lang="es-ES" i="1">
                              <a:latin typeface="Cambria Math" panose="02040503050406030204" pitchFamily="18" charset="0"/>
                            </a:rPr>
                            <m:t>𝑗</m:t>
                          </m:r>
                          <m:r>
                            <a:rPr lang="es-ES" i="1">
                              <a:latin typeface="Cambria Math" panose="02040503050406030204" pitchFamily="18" charset="0"/>
                            </a:rPr>
                            <m:t>=1</m:t>
                          </m:r>
                        </m:sub>
                        <m:sup>
                          <m:r>
                            <a:rPr lang="es-ES" i="1">
                              <a:latin typeface="Cambria Math" panose="02040503050406030204" pitchFamily="18" charset="0"/>
                            </a:rPr>
                            <m:t>𝑝</m:t>
                          </m:r>
                        </m:sup>
                        <m:e>
                          <m:func>
                            <m:funcPr>
                              <m:ctrlPr>
                                <a:rPr lang="en-US" i="1">
                                  <a:latin typeface="Cambria Math" panose="02040503050406030204" pitchFamily="18" charset="0"/>
                                </a:rPr>
                              </m:ctrlPr>
                            </m:funcPr>
                            <m:fName>
                              <m:r>
                                <m:rPr>
                                  <m:sty m:val="p"/>
                                </m:rPr>
                                <a:rPr lang="es-ES">
                                  <a:latin typeface="Cambria Math" panose="02040503050406030204" pitchFamily="18" charset="0"/>
                                </a:rPr>
                                <m:t>exp</m:t>
                              </m:r>
                            </m:fName>
                            <m:e>
                              <m:d>
                                <m:dPr>
                                  <m:endChr m:val="|"/>
                                  <m:ctrlPr>
                                    <a:rPr lang="en-US" i="1">
                                      <a:latin typeface="Cambria Math" panose="02040503050406030204" pitchFamily="18" charset="0"/>
                                    </a:rPr>
                                  </m:ctrlPr>
                                </m:dPr>
                                <m:e>
                                  <m:r>
                                    <a:rPr lang="es-ES" i="1">
                                      <a:latin typeface="Cambria Math" panose="02040503050406030204" pitchFamily="18" charset="0"/>
                                    </a:rPr>
                                    <m:t>−</m:t>
                                  </m:r>
                                  <m:r>
                                    <a:rPr lang="es-ES" i="1">
                                      <a:latin typeface="Cambria Math" panose="02040503050406030204" pitchFamily="18" charset="0"/>
                                    </a:rPr>
                                    <m:t>𝜆</m:t>
                                  </m:r>
                                  <m:r>
                                    <a:rPr lang="es-ES" i="1">
                                      <a:latin typeface="Cambria Math" panose="02040503050406030204" pitchFamily="18" charset="0"/>
                                    </a:rPr>
                                    <m:t> </m:t>
                                  </m:r>
                                </m:e>
                              </m:d>
                            </m:e>
                          </m:func>
                          <m:sSub>
                            <m:sSubPr>
                              <m:ctrlPr>
                                <a:rPr lang="en-US" i="1">
                                  <a:latin typeface="Cambria Math" panose="02040503050406030204" pitchFamily="18" charset="0"/>
                                </a:rPr>
                              </m:ctrlPr>
                            </m:sSubPr>
                            <m:e>
                              <m:r>
                                <a:rPr lang="es-ES" i="1">
                                  <a:latin typeface="Cambria Math" panose="02040503050406030204" pitchFamily="18" charset="0"/>
                                </a:rPr>
                                <m:t>𝛽</m:t>
                              </m:r>
                            </m:e>
                            <m:sub>
                              <m:r>
                                <a:rPr lang="es-ES" i="1">
                                  <a:latin typeface="Cambria Math" panose="02040503050406030204" pitchFamily="18" charset="0"/>
                                </a:rPr>
                                <m:t>𝑗</m:t>
                              </m:r>
                            </m:sub>
                          </m:sSub>
                          <m:r>
                            <a:rPr lang="es-ES" i="1">
                              <a:latin typeface="Cambria Math" panose="02040503050406030204" pitchFamily="18" charset="0"/>
                            </a:rPr>
                            <m:t> | / √</m:t>
                          </m:r>
                          <m:sSup>
                            <m:sSupPr>
                              <m:ctrlPr>
                                <a:rPr lang="en-US" i="1">
                                  <a:latin typeface="Cambria Math" panose="02040503050406030204" pitchFamily="18" charset="0"/>
                                </a:rPr>
                              </m:ctrlPr>
                            </m:sSupPr>
                            <m:e>
                              <m:r>
                                <a:rPr lang="es-ES" i="1">
                                  <a:latin typeface="Cambria Math" panose="02040503050406030204" pitchFamily="18" charset="0"/>
                                </a:rPr>
                                <m:t>𝜎</m:t>
                              </m:r>
                            </m:e>
                            <m:sup>
                              <m:r>
                                <a:rPr lang="es-ES" i="1">
                                  <a:latin typeface="Cambria Math" panose="02040503050406030204" pitchFamily="18" charset="0"/>
                                </a:rPr>
                                <m:t>2</m:t>
                              </m:r>
                            </m:sup>
                          </m:sSup>
                        </m:e>
                      </m:nary>
                      <m:r>
                        <a:rPr lang="es-ES" i="1">
                          <a:latin typeface="Cambria Math" panose="02040503050406030204" pitchFamily="18" charset="0"/>
                        </a:rPr>
                        <m:t>)</m:t>
                      </m:r>
                    </m:oMath>
                  </m:oMathPara>
                </a14:m>
                <a:endParaRPr lang="en-US" dirty="0"/>
              </a:p>
              <a:p>
                <a:pPr marL="285750" indent="-285750">
                  <a:buFont typeface="Arial" panose="020B0604020202020204" pitchFamily="34" charset="0"/>
                  <a:buChar char="•"/>
                </a:pPr>
                <a:r>
                  <a:rPr lang="es-ES" dirty="0"/>
                  <a:t>Es decir, prior de Laplace para Betas con media 0 y escala proporcional a </a:t>
                </a:r>
                <a14:m>
                  <m:oMath xmlns:m="http://schemas.openxmlformats.org/officeDocument/2006/math">
                    <m:f>
                      <m:fPr>
                        <m:ctrlPr>
                          <a:rPr lang="en-US" i="1">
                            <a:latin typeface="Cambria Math" panose="02040503050406030204" pitchFamily="18" charset="0"/>
                          </a:rPr>
                        </m:ctrlPr>
                      </m:fPr>
                      <m:num>
                        <m:r>
                          <a:rPr lang="es-ES" i="1">
                            <a:latin typeface="Cambria Math" panose="02040503050406030204" pitchFamily="18" charset="0"/>
                          </a:rPr>
                          <m:t>𝜎</m:t>
                        </m:r>
                      </m:num>
                      <m:den>
                        <m:r>
                          <a:rPr lang="es-ES" i="1">
                            <a:latin typeface="Cambria Math" panose="02040503050406030204" pitchFamily="18" charset="0"/>
                          </a:rPr>
                          <m:t>𝜆</m:t>
                        </m:r>
                      </m:den>
                    </m:f>
                  </m:oMath>
                </a14:m>
                <a:r>
                  <a:rPr lang="es-ES" dirty="0"/>
                  <a:t>, y una prior para </a:t>
                </a:r>
                <a14:m>
                  <m:oMath xmlns:m="http://schemas.openxmlformats.org/officeDocument/2006/math">
                    <m:sSup>
                      <m:sSupPr>
                        <m:ctrlPr>
                          <a:rPr lang="en-US" i="1">
                            <a:latin typeface="Cambria Math" panose="02040503050406030204" pitchFamily="18" charset="0"/>
                          </a:rPr>
                        </m:ctrlPr>
                      </m:sSupPr>
                      <m:e>
                        <m:r>
                          <a:rPr lang="es-ES" i="1">
                            <a:latin typeface="Cambria Math" panose="02040503050406030204" pitchFamily="18" charset="0"/>
                          </a:rPr>
                          <m:t>𝜎</m:t>
                        </m:r>
                      </m:e>
                      <m:sup>
                        <m:r>
                          <a:rPr lang="es-ES" i="1">
                            <a:latin typeface="Cambria Math" panose="02040503050406030204" pitchFamily="18" charset="0"/>
                          </a:rPr>
                          <m:t>2</m:t>
                        </m:r>
                      </m:sup>
                    </m:sSup>
                  </m:oMath>
                </a14:m>
                <a:r>
                  <a:rPr lang="es-ES" dirty="0"/>
                  <a:t> del tipo Inverse-Gamma.</a:t>
                </a:r>
                <a:endParaRPr lang="en-US" dirty="0"/>
              </a:p>
            </p:txBody>
          </p:sp>
        </mc:Choice>
        <mc:Fallback>
          <p:sp>
            <p:nvSpPr>
              <p:cNvPr id="19" name="TextBox 18">
                <a:extLst>
                  <a:ext uri="{FF2B5EF4-FFF2-40B4-BE49-F238E27FC236}">
                    <a16:creationId xmlns:a16="http://schemas.microsoft.com/office/drawing/2014/main" id="{006B6639-7B9A-3842-4574-0D7A0EF36B75}"/>
                  </a:ext>
                </a:extLst>
              </p:cNvPr>
              <p:cNvSpPr txBox="1">
                <a:spLocks noRot="1" noChangeAspect="1" noMove="1" noResize="1" noEditPoints="1" noAdjustHandles="1" noChangeArrowheads="1" noChangeShapeType="1" noTextEdit="1"/>
              </p:cNvSpPr>
              <p:nvPr/>
            </p:nvSpPr>
            <p:spPr>
              <a:xfrm>
                <a:off x="1189820" y="1211854"/>
                <a:ext cx="12338891" cy="4256486"/>
              </a:xfrm>
              <a:prstGeom prst="rect">
                <a:avLst/>
              </a:prstGeom>
              <a:blipFill>
                <a:blip r:embed="rId3"/>
                <a:stretch>
                  <a:fillRect l="-296" t="-860" r="-148"/>
                </a:stretch>
              </a:blipFill>
            </p:spPr>
            <p:txBody>
              <a:bodyPr/>
              <a:lstStyle/>
              <a:p>
                <a:r>
                  <a:rPr lang="en-US">
                    <a:noFill/>
                  </a:rPr>
                  <a:t> </a:t>
                </a:r>
              </a:p>
            </p:txBody>
          </p:sp>
        </mc:Fallback>
      </mc:AlternateContent>
      <p:sp>
        <p:nvSpPr>
          <p:cNvPr id="2" name="TextBox 1">
            <a:extLst>
              <a:ext uri="{FF2B5EF4-FFF2-40B4-BE49-F238E27FC236}">
                <a16:creationId xmlns:a16="http://schemas.microsoft.com/office/drawing/2014/main" id="{A5C2D447-9B92-890D-E547-7151AE43562E}"/>
              </a:ext>
            </a:extLst>
          </p:cNvPr>
          <p:cNvSpPr txBox="1"/>
          <p:nvPr/>
        </p:nvSpPr>
        <p:spPr>
          <a:xfrm>
            <a:off x="609072" y="566227"/>
            <a:ext cx="3863776" cy="461665"/>
          </a:xfrm>
          <a:prstGeom prst="rect">
            <a:avLst/>
          </a:prstGeom>
          <a:noFill/>
        </p:spPr>
        <p:txBody>
          <a:bodyPr wrap="square" rtlCol="0">
            <a:spAutoFit/>
          </a:bodyPr>
          <a:lstStyle/>
          <a:p>
            <a:r>
              <a:rPr lang="es-ES" sz="2400" dirty="0" err="1">
                <a:latin typeface="Source Sans 3" panose="020B0604020202020204" charset="0"/>
              </a:rPr>
              <a:t>Bayesian</a:t>
            </a:r>
            <a:r>
              <a:rPr lang="es-ES" sz="2400" dirty="0">
                <a:latin typeface="Source Sans 3" panose="020B0604020202020204" charset="0"/>
              </a:rPr>
              <a:t> Lasso</a:t>
            </a:r>
            <a:endParaRPr lang="en-US" dirty="0">
              <a:latin typeface="Source Sans 3" panose="020B0604020202020204" charset="0"/>
            </a:endParaRPr>
          </a:p>
        </p:txBody>
      </p:sp>
      <p:pic>
        <p:nvPicPr>
          <p:cNvPr id="1026" name="Picture 2" descr="Comparison of Gaussian and Laplace distributions | Download Scientific  Diagram">
            <a:extLst>
              <a:ext uri="{FF2B5EF4-FFF2-40B4-BE49-F238E27FC236}">
                <a16:creationId xmlns:a16="http://schemas.microsoft.com/office/drawing/2014/main" id="{88B5A1C8-0770-DC2B-E38C-38B61C2630D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610225" y="5610225"/>
            <a:ext cx="2667000" cy="1714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9801108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02B161-CB5F-6AC2-FDEF-962142C404C9}"/>
            </a:ext>
          </a:extLst>
        </p:cNvPr>
        <p:cNvGrpSpPr/>
        <p:nvPr/>
      </p:nvGrpSpPr>
      <p:grpSpPr>
        <a:xfrm>
          <a:off x="0" y="0"/>
          <a:ext cx="0" cy="0"/>
          <a:chOff x="0" y="0"/>
          <a:chExt cx="0" cy="0"/>
        </a:xfrm>
      </p:grpSpPr>
      <p:sp>
        <p:nvSpPr>
          <p:cNvPr id="5" name="Shape 3">
            <a:extLst>
              <a:ext uri="{FF2B5EF4-FFF2-40B4-BE49-F238E27FC236}">
                <a16:creationId xmlns:a16="http://schemas.microsoft.com/office/drawing/2014/main" id="{76073B4F-2B10-6B23-F77A-E34543541CB1}"/>
              </a:ext>
            </a:extLst>
          </p:cNvPr>
          <p:cNvSpPr/>
          <p:nvPr/>
        </p:nvSpPr>
        <p:spPr>
          <a:xfrm>
            <a:off x="763310" y="1211853"/>
            <a:ext cx="121920" cy="6323684"/>
          </a:xfrm>
          <a:prstGeom prst="roundRect">
            <a:avLst>
              <a:gd name="adj" fmla="val 27907"/>
            </a:avLst>
          </a:prstGeom>
          <a:solidFill>
            <a:srgbClr val="325F7B"/>
          </a:solidFill>
          <a:ln/>
        </p:spPr>
        <p:txBody>
          <a:bodyPr/>
          <a:lstStyle/>
          <a:p>
            <a:endParaRPr lang="es-ES" noProof="0" dirty="0"/>
          </a:p>
        </p:txBody>
      </p:sp>
      <mc:AlternateContent xmlns:mc="http://schemas.openxmlformats.org/markup-compatibility/2006">
        <mc:Choice xmlns:a14="http://schemas.microsoft.com/office/drawing/2010/main" Requires="a14">
          <p:sp>
            <p:nvSpPr>
              <p:cNvPr id="19" name="TextBox 18">
                <a:extLst>
                  <a:ext uri="{FF2B5EF4-FFF2-40B4-BE49-F238E27FC236}">
                    <a16:creationId xmlns:a16="http://schemas.microsoft.com/office/drawing/2014/main" id="{B7FD7B3C-268A-C60C-C597-3A208567D2E6}"/>
                  </a:ext>
                </a:extLst>
              </p:cNvPr>
              <p:cNvSpPr txBox="1"/>
              <p:nvPr/>
            </p:nvSpPr>
            <p:spPr>
              <a:xfrm>
                <a:off x="1189820" y="1211854"/>
                <a:ext cx="12338891" cy="5654625"/>
              </a:xfrm>
              <a:prstGeom prst="rect">
                <a:avLst/>
              </a:prstGeom>
              <a:noFill/>
            </p:spPr>
            <p:txBody>
              <a:bodyPr wrap="square" rtlCol="0">
                <a:spAutoFit/>
              </a:bodyPr>
              <a:lstStyle/>
              <a:p>
                <a:pPr marL="285750" indent="-285750">
                  <a:buFont typeface="Arial" panose="020B0604020202020204" pitchFamily="34" charset="0"/>
                  <a:buChar char="•"/>
                </a:pPr>
                <a:r>
                  <a:rPr lang="es-ES" b="1" dirty="0"/>
                  <a:t>Diferencia con Lasso clásico. </a:t>
                </a:r>
                <a:r>
                  <a:rPr lang="es-ES" dirty="0"/>
                  <a:t>Versión frecuentista produce una estimación puntual por optimización con penalidad L1. </a:t>
                </a:r>
                <a:r>
                  <a:rPr lang="es-ES" dirty="0" err="1"/>
                  <a:t>Bayesian</a:t>
                </a:r>
                <a:r>
                  <a:rPr lang="es-ES" dirty="0"/>
                  <a:t> Lasso produce una distribución posterior para los parámetros.</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s-ES" b="1" dirty="0"/>
                  <a:t>Cero exacto vs casi cero. </a:t>
                </a:r>
                <a:r>
                  <a:rPr lang="es-ES" dirty="0"/>
                  <a:t>Versión frecuentista, por la geometría de la penalidad L1, muchos coeficientes quedan exactamente en 0. En </a:t>
                </a:r>
                <a:r>
                  <a:rPr lang="es-ES" dirty="0" err="1"/>
                  <a:t>Bayesian</a:t>
                </a:r>
                <a:r>
                  <a:rPr lang="es-ES" dirty="0"/>
                  <a:t> Lasso, no se obtienen ceros exactos en los coeficientes, porque se está describiendo una distribución continua. En cambio, se considera  un predictor “irrelevante” cuando la posterior está muy concentrada cerca de 0 o cuando, por ejemplo, un intervalo creíble incluye el 0.</a:t>
                </a:r>
              </a:p>
              <a:p>
                <a:endParaRPr lang="en-US" dirty="0"/>
              </a:p>
              <a:p>
                <a:pPr marL="285750" indent="-285750">
                  <a:buFont typeface="Arial" panose="020B0604020202020204" pitchFamily="34" charset="0"/>
                  <a:buChar char="•"/>
                </a:pPr>
                <a:r>
                  <a:rPr lang="es-ES" b="1" dirty="0"/>
                  <a:t>Rol de Lambda:</a:t>
                </a:r>
                <a:r>
                  <a:rPr lang="es-ES" dirty="0"/>
                  <a:t> Controla la intensidad del empuje hacia 0</a:t>
                </a:r>
                <a:endParaRPr lang="en-US" dirty="0"/>
              </a:p>
              <a:p>
                <a:pPr marL="742950" lvl="1" indent="-285750">
                  <a:buFont typeface="Arial" panose="020B0604020202020204" pitchFamily="34" charset="0"/>
                  <a:buChar char="•"/>
                </a:pPr>
                <a:r>
                  <a:rPr lang="es-ES" dirty="0"/>
                  <a:t>Lambda mas grande =&gt; mayor contracción</a:t>
                </a:r>
                <a:endParaRPr lang="en-US" dirty="0"/>
              </a:p>
              <a:p>
                <a:pPr marL="742950" lvl="1" indent="-285750">
                  <a:buFont typeface="Arial" panose="020B0604020202020204" pitchFamily="34" charset="0"/>
                  <a:buChar char="•"/>
                </a:pPr>
                <a:r>
                  <a:rPr lang="es-ES" dirty="0"/>
                  <a:t>A diferencia de Lasso frecuentista, en Bayes lambda puede: i) fijarse; </a:t>
                </a:r>
                <a:r>
                  <a:rPr lang="es-ES" dirty="0" err="1"/>
                  <a:t>ii</a:t>
                </a:r>
                <a:r>
                  <a:rPr lang="es-ES" dirty="0"/>
                  <a:t>) estimarse con estrategias </a:t>
                </a:r>
                <a:r>
                  <a:rPr lang="es-ES" i="1" dirty="0" err="1"/>
                  <a:t>empirical</a:t>
                </a:r>
                <a:r>
                  <a:rPr lang="es-ES" i="1" dirty="0"/>
                  <a:t> bayes </a:t>
                </a:r>
                <a:r>
                  <a:rPr lang="es-ES" dirty="0"/>
                  <a:t>(máxima verosimilitud marginal)</a:t>
                </a:r>
                <a:endParaRPr lang="en-US" dirty="0"/>
              </a:p>
              <a:p>
                <a:pPr marL="742950" lvl="1" indent="-285750">
                  <a:buFont typeface="Arial" panose="020B0604020202020204" pitchFamily="34" charset="0"/>
                  <a:buChar char="•"/>
                </a:pPr>
                <a:r>
                  <a:rPr lang="es-ES" dirty="0"/>
                  <a:t>Asignársele una </a:t>
                </a:r>
                <a:r>
                  <a:rPr lang="es-ES" dirty="0" err="1"/>
                  <a:t>hiperprior</a:t>
                </a:r>
                <a:r>
                  <a:rPr lang="es-ES" dirty="0"/>
                  <a:t> (por ejemplo, Gamma sobre </a:t>
                </a:r>
                <a14:m>
                  <m:oMath xmlns:m="http://schemas.openxmlformats.org/officeDocument/2006/math">
                    <m:sSup>
                      <m:sSupPr>
                        <m:ctrlPr>
                          <a:rPr lang="en-US" i="1">
                            <a:latin typeface="Cambria Math" panose="02040503050406030204" pitchFamily="18" charset="0"/>
                          </a:rPr>
                        </m:ctrlPr>
                      </m:sSupPr>
                      <m:e>
                        <m:r>
                          <a:rPr lang="es-ES" i="1">
                            <a:latin typeface="Cambria Math" panose="02040503050406030204" pitchFamily="18" charset="0"/>
                          </a:rPr>
                          <m:t>𝜆</m:t>
                        </m:r>
                      </m:e>
                      <m:sup>
                        <m:r>
                          <a:rPr lang="es-ES" i="1">
                            <a:latin typeface="Cambria Math" panose="02040503050406030204" pitchFamily="18" charset="0"/>
                          </a:rPr>
                          <m:t>2</m:t>
                        </m:r>
                      </m:sup>
                    </m:sSup>
                  </m:oMath>
                </a14:m>
                <a:r>
                  <a:rPr lang="es-ES" dirty="0"/>
                  <a:t>) y muestrearlo.</a:t>
                </a:r>
              </a:p>
              <a:p>
                <a:pPr marL="285750" lvl="0" indent="-285750">
                  <a:buFont typeface="Arial" panose="020B0604020202020204" pitchFamily="34" charset="0"/>
                  <a:buChar char="•"/>
                </a:pPr>
                <a:endParaRPr lang="en-US" dirty="0"/>
              </a:p>
              <a:p>
                <a:pPr marL="285750" indent="-285750">
                  <a:buFont typeface="Arial" panose="020B0604020202020204" pitchFamily="34" charset="0"/>
                  <a:buChar char="•"/>
                </a:pPr>
                <a:r>
                  <a:rPr lang="es-ES" b="1" dirty="0"/>
                  <a:t>Ventajas de </a:t>
                </a:r>
                <a:r>
                  <a:rPr lang="es-ES" b="1" dirty="0" err="1"/>
                  <a:t>Bayesian</a:t>
                </a:r>
                <a:r>
                  <a:rPr lang="es-ES" b="1" dirty="0"/>
                  <a:t> Lasso:</a:t>
                </a:r>
                <a:endParaRPr lang="en-US" dirty="0"/>
              </a:p>
              <a:p>
                <a:pPr marL="742950" lvl="1" indent="-285750">
                  <a:buFont typeface="Arial" panose="020B0604020202020204" pitchFamily="34" charset="0"/>
                  <a:buChar char="•"/>
                </a:pPr>
                <a:r>
                  <a:rPr lang="es-ES" dirty="0"/>
                  <a:t>Incorporación de conocimiento previo a través de enfoque bayesiano.</a:t>
                </a:r>
              </a:p>
              <a:p>
                <a:pPr marL="742950" lvl="1" indent="-285750">
                  <a:buFont typeface="Arial" panose="020B0604020202020204" pitchFamily="34" charset="0"/>
                  <a:buChar char="•"/>
                </a:pPr>
                <a:r>
                  <a:rPr lang="es-ES" dirty="0" err="1"/>
                  <a:t>Regularizacion</a:t>
                </a:r>
                <a:r>
                  <a:rPr lang="es-ES" dirty="0"/>
                  <a:t> y selección probabilística: </a:t>
                </a:r>
                <a:r>
                  <a:rPr lang="es-ES" dirty="0" err="1"/>
                  <a:t>shrinkage</a:t>
                </a:r>
                <a:r>
                  <a:rPr lang="es-ES" dirty="0"/>
                  <a:t> fuerte y diagnostico de irrelevancia vía intervalos creíbles alrededor de cero.</a:t>
                </a:r>
                <a:endParaRPr lang="en-US" dirty="0"/>
              </a:p>
              <a:p>
                <a:pPr marL="742950" lvl="1" indent="-285750">
                  <a:buFont typeface="Arial" panose="020B0604020202020204" pitchFamily="34" charset="0"/>
                  <a:buChar char="•"/>
                </a:pPr>
                <a:r>
                  <a:rPr lang="es-ES" dirty="0"/>
                  <a:t>Resultados similares a Lasso en términos de magnitudes, pero con lectura probabilística y con inferencia por intervalos creíbles para cada </a:t>
                </a:r>
                <a14:m>
                  <m:oMath xmlns:m="http://schemas.openxmlformats.org/officeDocument/2006/math">
                    <m:sSub>
                      <m:sSubPr>
                        <m:ctrlPr>
                          <a:rPr lang="en-US" i="1">
                            <a:latin typeface="Cambria Math" panose="02040503050406030204" pitchFamily="18" charset="0"/>
                          </a:rPr>
                        </m:ctrlPr>
                      </m:sSubPr>
                      <m:e>
                        <m:r>
                          <a:rPr lang="es-ES" i="1">
                            <a:latin typeface="Cambria Math" panose="02040503050406030204" pitchFamily="18" charset="0"/>
                          </a:rPr>
                          <m:t>𝛽</m:t>
                        </m:r>
                      </m:e>
                      <m:sub>
                        <m:r>
                          <a:rPr lang="es-ES" i="1">
                            <a:latin typeface="Cambria Math" panose="02040503050406030204" pitchFamily="18" charset="0"/>
                          </a:rPr>
                          <m:t>𝑗</m:t>
                        </m:r>
                      </m:sub>
                    </m:sSub>
                  </m:oMath>
                </a14:m>
                <a:r>
                  <a:rPr lang="es-ES" dirty="0"/>
                  <a:t> y también para </a:t>
                </a:r>
                <a14:m>
                  <m:oMath xmlns:m="http://schemas.openxmlformats.org/officeDocument/2006/math">
                    <m:sSup>
                      <m:sSupPr>
                        <m:ctrlPr>
                          <a:rPr lang="en-US" i="1">
                            <a:latin typeface="Cambria Math" panose="02040503050406030204" pitchFamily="18" charset="0"/>
                          </a:rPr>
                        </m:ctrlPr>
                      </m:sSupPr>
                      <m:e>
                        <m:r>
                          <a:rPr lang="es-ES" i="1">
                            <a:latin typeface="Cambria Math" panose="02040503050406030204" pitchFamily="18" charset="0"/>
                          </a:rPr>
                          <m:t>𝜎</m:t>
                        </m:r>
                      </m:e>
                      <m:sup>
                        <m:r>
                          <a:rPr lang="es-ES" i="1">
                            <a:latin typeface="Cambria Math" panose="02040503050406030204" pitchFamily="18" charset="0"/>
                          </a:rPr>
                          <m:t>2</m:t>
                        </m:r>
                      </m:sup>
                    </m:sSup>
                  </m:oMath>
                </a14:m>
                <a:r>
                  <a:rPr lang="es-ES" dirty="0"/>
                  <a:t>. </a:t>
                </a:r>
                <a:endParaRPr lang="en-US" dirty="0"/>
              </a:p>
            </p:txBody>
          </p:sp>
        </mc:Choice>
        <mc:Fallback>
          <p:sp>
            <p:nvSpPr>
              <p:cNvPr id="19" name="TextBox 18">
                <a:extLst>
                  <a:ext uri="{FF2B5EF4-FFF2-40B4-BE49-F238E27FC236}">
                    <a16:creationId xmlns:a16="http://schemas.microsoft.com/office/drawing/2014/main" id="{B7FD7B3C-268A-C60C-C597-3A208567D2E6}"/>
                  </a:ext>
                </a:extLst>
              </p:cNvPr>
              <p:cNvSpPr txBox="1">
                <a:spLocks noRot="1" noChangeAspect="1" noMove="1" noResize="1" noEditPoints="1" noAdjustHandles="1" noChangeArrowheads="1" noChangeShapeType="1" noTextEdit="1"/>
              </p:cNvSpPr>
              <p:nvPr/>
            </p:nvSpPr>
            <p:spPr>
              <a:xfrm>
                <a:off x="1189820" y="1211854"/>
                <a:ext cx="12338891" cy="5654625"/>
              </a:xfrm>
              <a:prstGeom prst="rect">
                <a:avLst/>
              </a:prstGeom>
              <a:blipFill>
                <a:blip r:embed="rId3"/>
                <a:stretch>
                  <a:fillRect l="-296" t="-647" r="-148" b="-539"/>
                </a:stretch>
              </a:blipFill>
            </p:spPr>
            <p:txBody>
              <a:bodyPr/>
              <a:lstStyle/>
              <a:p>
                <a:r>
                  <a:rPr lang="en-US">
                    <a:noFill/>
                  </a:rPr>
                  <a:t> </a:t>
                </a:r>
              </a:p>
            </p:txBody>
          </p:sp>
        </mc:Fallback>
      </mc:AlternateContent>
      <p:sp>
        <p:nvSpPr>
          <p:cNvPr id="2" name="TextBox 1">
            <a:extLst>
              <a:ext uri="{FF2B5EF4-FFF2-40B4-BE49-F238E27FC236}">
                <a16:creationId xmlns:a16="http://schemas.microsoft.com/office/drawing/2014/main" id="{54EE15D2-8D2F-7246-003F-800D20F1624B}"/>
              </a:ext>
            </a:extLst>
          </p:cNvPr>
          <p:cNvSpPr txBox="1"/>
          <p:nvPr/>
        </p:nvSpPr>
        <p:spPr>
          <a:xfrm>
            <a:off x="609072" y="566227"/>
            <a:ext cx="3863776" cy="461665"/>
          </a:xfrm>
          <a:prstGeom prst="rect">
            <a:avLst/>
          </a:prstGeom>
          <a:noFill/>
        </p:spPr>
        <p:txBody>
          <a:bodyPr wrap="square" rtlCol="0">
            <a:spAutoFit/>
          </a:bodyPr>
          <a:lstStyle/>
          <a:p>
            <a:r>
              <a:rPr lang="es-ES" sz="2400" dirty="0" err="1">
                <a:latin typeface="Source Sans 3" panose="020B0604020202020204" charset="0"/>
              </a:rPr>
              <a:t>Bayesian</a:t>
            </a:r>
            <a:r>
              <a:rPr lang="es-ES" sz="2400" dirty="0">
                <a:latin typeface="Source Sans 3" panose="020B0604020202020204" charset="0"/>
              </a:rPr>
              <a:t> Lasso</a:t>
            </a:r>
            <a:endParaRPr lang="en-US" dirty="0">
              <a:latin typeface="Source Sans 3" panose="020B0604020202020204" charset="0"/>
            </a:endParaRPr>
          </a:p>
        </p:txBody>
      </p:sp>
    </p:spTree>
    <p:extLst>
      <p:ext uri="{BB962C8B-B14F-4D97-AF65-F5344CB8AC3E}">
        <p14:creationId xmlns:p14="http://schemas.microsoft.com/office/powerpoint/2010/main" val="17867193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57E6C1-3EF0-1090-2183-2A3FB428D99B}"/>
            </a:ext>
          </a:extLst>
        </p:cNvPr>
        <p:cNvGrpSpPr/>
        <p:nvPr/>
      </p:nvGrpSpPr>
      <p:grpSpPr>
        <a:xfrm>
          <a:off x="0" y="0"/>
          <a:ext cx="0" cy="0"/>
          <a:chOff x="0" y="0"/>
          <a:chExt cx="0" cy="0"/>
        </a:xfrm>
      </p:grpSpPr>
      <p:sp>
        <p:nvSpPr>
          <p:cNvPr id="5" name="Shape 3">
            <a:extLst>
              <a:ext uri="{FF2B5EF4-FFF2-40B4-BE49-F238E27FC236}">
                <a16:creationId xmlns:a16="http://schemas.microsoft.com/office/drawing/2014/main" id="{DC26189E-6E6B-308A-5068-3994EFD52DE2}"/>
              </a:ext>
            </a:extLst>
          </p:cNvPr>
          <p:cNvSpPr/>
          <p:nvPr/>
        </p:nvSpPr>
        <p:spPr>
          <a:xfrm>
            <a:off x="763310" y="1211853"/>
            <a:ext cx="121920" cy="4186412"/>
          </a:xfrm>
          <a:prstGeom prst="roundRect">
            <a:avLst>
              <a:gd name="adj" fmla="val 27907"/>
            </a:avLst>
          </a:prstGeom>
          <a:solidFill>
            <a:srgbClr val="325F7B"/>
          </a:solidFill>
          <a:ln/>
        </p:spPr>
        <p:txBody>
          <a:bodyPr/>
          <a:lstStyle/>
          <a:p>
            <a:endParaRPr lang="es-ES" noProof="0" dirty="0"/>
          </a:p>
        </p:txBody>
      </p: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1C3342CF-CD3A-7215-BB91-256D3E03F029}"/>
                  </a:ext>
                </a:extLst>
              </p:cNvPr>
              <p:cNvSpPr txBox="1"/>
              <p:nvPr/>
            </p:nvSpPr>
            <p:spPr>
              <a:xfrm>
                <a:off x="1189820" y="1211854"/>
                <a:ext cx="12338891" cy="4317464"/>
              </a:xfrm>
              <a:prstGeom prst="rect">
                <a:avLst/>
              </a:prstGeom>
              <a:noFill/>
            </p:spPr>
            <p:txBody>
              <a:bodyPr wrap="square" rtlCol="0">
                <a:spAutoFit/>
              </a:bodyPr>
              <a:lstStyle/>
              <a:p>
                <a:pPr marL="285750" indent="-285750">
                  <a:buFont typeface="Arial" panose="020B0604020202020204" pitchFamily="34" charset="0"/>
                  <a:buChar char="•"/>
                </a:pPr>
                <a:r>
                  <a:rPr lang="es-ES" dirty="0"/>
                  <a:t>La Regla de Taylor es una regla de política monetaria ampliamente utilizada por los Bancos Centrales hoy en día, para determinar la tasa de interés de la política monetaria en función de la inflación y el crecimiento del PBI. </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s-ES" dirty="0"/>
                  <a:t>La formulación original de Taylor (1993) es la siguiente:</a:t>
                </a:r>
                <a:endParaRPr lang="en-US" dirty="0"/>
              </a:p>
              <a:p>
                <a:pPr/>
                <a14:m>
                  <m:oMathPara xmlns:m="http://schemas.openxmlformats.org/officeDocument/2006/math">
                    <m:oMathParaPr>
                      <m:jc m:val="centerGroup"/>
                    </m:oMathParaPr>
                    <m:oMath xmlns:m="http://schemas.openxmlformats.org/officeDocument/2006/math">
                      <m:sSub>
                        <m:sSubPr>
                          <m:ctrlPr>
                            <a:rPr lang="en-US" i="1">
                              <a:latin typeface="Cambria Math" panose="02040503050406030204" pitchFamily="18" charset="0"/>
                            </a:rPr>
                          </m:ctrlPr>
                        </m:sSubPr>
                        <m:e>
                          <m:r>
                            <a:rPr lang="es-ES" i="1">
                              <a:latin typeface="Cambria Math" panose="02040503050406030204" pitchFamily="18" charset="0"/>
                            </a:rPr>
                            <m:t>𝑖</m:t>
                          </m:r>
                        </m:e>
                        <m:sub>
                          <m:r>
                            <a:rPr lang="es-ES" i="1">
                              <a:latin typeface="Cambria Math" panose="02040503050406030204" pitchFamily="18" charset="0"/>
                            </a:rPr>
                            <m:t>𝑡</m:t>
                          </m:r>
                        </m:sub>
                      </m:sSub>
                      <m:r>
                        <a:rPr lang="es-ES" i="1">
                          <a:latin typeface="Cambria Math" panose="02040503050406030204" pitchFamily="18" charset="0"/>
                        </a:rPr>
                        <m:t>=</m:t>
                      </m:r>
                      <m:sSup>
                        <m:sSupPr>
                          <m:ctrlPr>
                            <a:rPr lang="en-US" i="1">
                              <a:latin typeface="Cambria Math" panose="02040503050406030204" pitchFamily="18" charset="0"/>
                            </a:rPr>
                          </m:ctrlPr>
                        </m:sSupPr>
                        <m:e>
                          <m:r>
                            <a:rPr lang="es-ES" i="1">
                              <a:latin typeface="Cambria Math" panose="02040503050406030204" pitchFamily="18" charset="0"/>
                            </a:rPr>
                            <m:t>𝑟</m:t>
                          </m:r>
                        </m:e>
                        <m:sup>
                          <m:r>
                            <a:rPr lang="es-ES" i="1">
                              <a:latin typeface="Cambria Math" panose="02040503050406030204" pitchFamily="18" charset="0"/>
                            </a:rPr>
                            <m:t>∗</m:t>
                          </m:r>
                        </m:sup>
                      </m:sSup>
                      <m:r>
                        <a:rPr lang="es-ES" i="1">
                          <a:latin typeface="Cambria Math" panose="02040503050406030204" pitchFamily="18" charset="0"/>
                        </a:rPr>
                        <m:t>+</m:t>
                      </m:r>
                      <m:sSub>
                        <m:sSubPr>
                          <m:ctrlPr>
                            <a:rPr lang="en-US" i="1">
                              <a:latin typeface="Cambria Math" panose="02040503050406030204" pitchFamily="18" charset="0"/>
                            </a:rPr>
                          </m:ctrlPr>
                        </m:sSubPr>
                        <m:e>
                          <m:r>
                            <a:rPr lang="es-ES" i="1">
                              <a:latin typeface="Cambria Math" panose="02040503050406030204" pitchFamily="18" charset="0"/>
                            </a:rPr>
                            <m:t>𝜋</m:t>
                          </m:r>
                        </m:e>
                        <m:sub>
                          <m:r>
                            <a:rPr lang="es-ES" i="1">
                              <a:latin typeface="Cambria Math" panose="02040503050406030204" pitchFamily="18" charset="0"/>
                            </a:rPr>
                            <m:t>𝑡</m:t>
                          </m:r>
                        </m:sub>
                      </m:sSub>
                      <m:r>
                        <a:rPr lang="es-ES" i="1">
                          <a:latin typeface="Cambria Math" panose="02040503050406030204" pitchFamily="18" charset="0"/>
                        </a:rPr>
                        <m:t>​+</m:t>
                      </m:r>
                      <m:sSub>
                        <m:sSubPr>
                          <m:ctrlPr>
                            <a:rPr lang="en-US" i="1">
                              <a:latin typeface="Cambria Math" panose="02040503050406030204" pitchFamily="18" charset="0"/>
                            </a:rPr>
                          </m:ctrlPr>
                        </m:sSubPr>
                        <m:e>
                          <m:r>
                            <a:rPr lang="es-ES" i="1">
                              <a:latin typeface="Cambria Math" panose="02040503050406030204" pitchFamily="18" charset="0"/>
                            </a:rPr>
                            <m:t>𝑎</m:t>
                          </m:r>
                        </m:e>
                        <m:sub>
                          <m:r>
                            <a:rPr lang="es-ES" i="1">
                              <a:latin typeface="Cambria Math" panose="02040503050406030204" pitchFamily="18" charset="0"/>
                            </a:rPr>
                            <m:t>𝜋</m:t>
                          </m:r>
                        </m:sub>
                      </m:sSub>
                      <m:sSub>
                        <m:sSubPr>
                          <m:ctrlPr>
                            <a:rPr lang="en-US" i="1">
                              <a:latin typeface="Cambria Math" panose="02040503050406030204" pitchFamily="18" charset="0"/>
                            </a:rPr>
                          </m:ctrlPr>
                        </m:sSubPr>
                        <m:e>
                          <m:r>
                            <a:rPr lang="es-ES" i="1">
                              <a:latin typeface="Cambria Math" panose="02040503050406030204" pitchFamily="18" charset="0"/>
                            </a:rPr>
                            <m:t>𝜋</m:t>
                          </m:r>
                        </m:e>
                        <m:sub>
                          <m:r>
                            <a:rPr lang="es-ES" i="1">
                              <a:latin typeface="Cambria Math" panose="02040503050406030204" pitchFamily="18" charset="0"/>
                            </a:rPr>
                            <m:t>𝑡</m:t>
                          </m:r>
                          <m:r>
                            <a:rPr lang="es-ES" i="1">
                              <a:latin typeface="Cambria Math" panose="02040503050406030204" pitchFamily="18" charset="0"/>
                            </a:rPr>
                            <m:t>−2</m:t>
                          </m:r>
                        </m:sub>
                      </m:sSub>
                      <m:r>
                        <a:rPr lang="es-ES" i="1">
                          <a:latin typeface="Cambria Math" panose="02040503050406030204" pitchFamily="18" charset="0"/>
                        </a:rPr>
                        <m:t>​+</m:t>
                      </m:r>
                      <m:sSub>
                        <m:sSubPr>
                          <m:ctrlPr>
                            <a:rPr lang="en-US" i="1">
                              <a:latin typeface="Cambria Math" panose="02040503050406030204" pitchFamily="18" charset="0"/>
                            </a:rPr>
                          </m:ctrlPr>
                        </m:sSubPr>
                        <m:e>
                          <m:r>
                            <a:rPr lang="es-ES" i="1">
                              <a:latin typeface="Cambria Math" panose="02040503050406030204" pitchFamily="18" charset="0"/>
                            </a:rPr>
                            <m:t>𝑎</m:t>
                          </m:r>
                        </m:e>
                        <m:sub>
                          <m:r>
                            <a:rPr lang="es-ES" i="1">
                              <a:latin typeface="Cambria Math" panose="02040503050406030204" pitchFamily="18" charset="0"/>
                            </a:rPr>
                            <m:t>𝑦</m:t>
                          </m:r>
                        </m:sub>
                      </m:sSub>
                      <m:sSubSup>
                        <m:sSubSupPr>
                          <m:ctrlPr>
                            <a:rPr lang="en-US" i="1">
                              <a:latin typeface="Cambria Math" panose="02040503050406030204" pitchFamily="18" charset="0"/>
                            </a:rPr>
                          </m:ctrlPr>
                        </m:sSubSupPr>
                        <m:e>
                          <m:r>
                            <a:rPr lang="es-ES" i="1">
                              <a:latin typeface="Cambria Math" panose="02040503050406030204" pitchFamily="18" charset="0"/>
                            </a:rPr>
                            <m:t>𝑦</m:t>
                          </m:r>
                        </m:e>
                        <m:sub>
                          <m:r>
                            <a:rPr lang="es-ES" i="1">
                              <a:latin typeface="Cambria Math" panose="02040503050406030204" pitchFamily="18" charset="0"/>
                            </a:rPr>
                            <m:t>𝑡</m:t>
                          </m:r>
                        </m:sub>
                        <m:sup>
                          <m:r>
                            <a:rPr lang="es-ES" i="1">
                              <a:latin typeface="Cambria Math" panose="02040503050406030204" pitchFamily="18" charset="0"/>
                            </a:rPr>
                            <m:t>𝑔𝑎𝑝</m:t>
                          </m:r>
                        </m:sup>
                      </m:sSubSup>
                      <m:r>
                        <a:rPr lang="es-ES" i="1">
                          <a:latin typeface="Cambria Math" panose="02040503050406030204" pitchFamily="18" charset="0"/>
                        </a:rPr>
                        <m:t>​</m:t>
                      </m:r>
                    </m:oMath>
                  </m:oMathPara>
                </a14:m>
                <a:endParaRPr lang="en-US" dirty="0"/>
              </a:p>
              <a:p>
                <a:r>
                  <a:rPr lang="es-ES" dirty="0"/>
                  <a:t>Donde,</a:t>
                </a:r>
                <a:endParaRPr lang="en-US" dirty="0"/>
              </a:p>
              <a:p>
                <a:pPr marL="285750" lvl="0" indent="-285750">
                  <a:buFont typeface="Arial" panose="020B0604020202020204" pitchFamily="34" charset="0"/>
                  <a:buChar char="•"/>
                </a:pPr>
                <a14:m>
                  <m:oMath xmlns:m="http://schemas.openxmlformats.org/officeDocument/2006/math">
                    <m:sSub>
                      <m:sSubPr>
                        <m:ctrlPr>
                          <a:rPr lang="en-US" i="1">
                            <a:latin typeface="Cambria Math" panose="02040503050406030204" pitchFamily="18" charset="0"/>
                          </a:rPr>
                        </m:ctrlPr>
                      </m:sSubPr>
                      <m:e>
                        <m:r>
                          <a:rPr lang="es-ES" i="1">
                            <a:latin typeface="Cambria Math" panose="02040503050406030204" pitchFamily="18" charset="0"/>
                          </a:rPr>
                          <m:t>𝑖</m:t>
                        </m:r>
                      </m:e>
                      <m:sub>
                        <m:r>
                          <a:rPr lang="es-ES" i="1">
                            <a:latin typeface="Cambria Math" panose="02040503050406030204" pitchFamily="18" charset="0"/>
                          </a:rPr>
                          <m:t>𝑡</m:t>
                        </m:r>
                      </m:sub>
                    </m:sSub>
                  </m:oMath>
                </a14:m>
                <a:r>
                  <a:rPr lang="es-ES" dirty="0"/>
                  <a:t>: Tasa de interés de la Reserva Federal para el período t </a:t>
                </a:r>
                <a:endParaRPr lang="en-US" dirty="0"/>
              </a:p>
              <a:p>
                <a:pPr marL="285750" lvl="0" indent="-285750">
                  <a:buFont typeface="Arial" panose="020B0604020202020204" pitchFamily="34" charset="0"/>
                  <a:buChar char="•"/>
                </a:pPr>
                <a14:m>
                  <m:oMath xmlns:m="http://schemas.openxmlformats.org/officeDocument/2006/math">
                    <m:sSup>
                      <m:sSupPr>
                        <m:ctrlPr>
                          <a:rPr lang="en-US" i="1">
                            <a:latin typeface="Cambria Math" panose="02040503050406030204" pitchFamily="18" charset="0"/>
                          </a:rPr>
                        </m:ctrlPr>
                      </m:sSupPr>
                      <m:e>
                        <m:r>
                          <a:rPr lang="es-ES" i="1">
                            <a:latin typeface="Cambria Math" panose="02040503050406030204" pitchFamily="18" charset="0"/>
                          </a:rPr>
                          <m:t>𝑟</m:t>
                        </m:r>
                      </m:e>
                      <m:sup>
                        <m:r>
                          <a:rPr lang="es-ES" i="1">
                            <a:latin typeface="Cambria Math" panose="02040503050406030204" pitchFamily="18" charset="0"/>
                          </a:rPr>
                          <m:t>∗</m:t>
                        </m:r>
                      </m:sup>
                    </m:sSup>
                  </m:oMath>
                </a14:m>
                <a:r>
                  <a:rPr lang="es-ES" dirty="0"/>
                  <a:t>: Tasa de interés de largo plazo </a:t>
                </a:r>
                <a:endParaRPr lang="en-US" dirty="0"/>
              </a:p>
              <a:p>
                <a:pPr marL="285750" lvl="0" indent="-285750">
                  <a:buFont typeface="Arial" panose="020B0604020202020204" pitchFamily="34" charset="0"/>
                  <a:buChar char="•"/>
                </a:pPr>
                <a14:m>
                  <m:oMath xmlns:m="http://schemas.openxmlformats.org/officeDocument/2006/math">
                    <m:sSub>
                      <m:sSubPr>
                        <m:ctrlPr>
                          <a:rPr lang="en-US" i="1">
                            <a:latin typeface="Cambria Math" panose="02040503050406030204" pitchFamily="18" charset="0"/>
                          </a:rPr>
                        </m:ctrlPr>
                      </m:sSubPr>
                      <m:e>
                        <m:r>
                          <a:rPr lang="es-ES" i="1">
                            <a:latin typeface="Cambria Math" panose="02040503050406030204" pitchFamily="18" charset="0"/>
                          </a:rPr>
                          <m:t>𝜋</m:t>
                        </m:r>
                      </m:e>
                      <m:sub>
                        <m:r>
                          <a:rPr lang="es-ES" i="1">
                            <a:latin typeface="Cambria Math" panose="02040503050406030204" pitchFamily="18" charset="0"/>
                          </a:rPr>
                          <m:t>𝑡</m:t>
                        </m:r>
                      </m:sub>
                    </m:sSub>
                    <m:r>
                      <a:rPr lang="es-ES" i="1">
                        <a:latin typeface="Cambria Math" panose="02040503050406030204" pitchFamily="18" charset="0"/>
                      </a:rPr>
                      <m:t>​</m:t>
                    </m:r>
                  </m:oMath>
                </a14:m>
                <a:r>
                  <a:rPr lang="es-ES" dirty="0"/>
                  <a:t>: Inflación en el período t</a:t>
                </a:r>
                <a:endParaRPr lang="en-US" dirty="0"/>
              </a:p>
              <a:p>
                <a:pPr marL="285750" lvl="0" indent="-285750">
                  <a:buFont typeface="Arial" panose="020B0604020202020204" pitchFamily="34" charset="0"/>
                  <a:buChar char="•"/>
                </a:pPr>
                <a14:m>
                  <m:oMath xmlns:m="http://schemas.openxmlformats.org/officeDocument/2006/math">
                    <m:sSubSup>
                      <m:sSubSupPr>
                        <m:ctrlPr>
                          <a:rPr lang="en-US" i="1">
                            <a:latin typeface="Cambria Math" panose="02040503050406030204" pitchFamily="18" charset="0"/>
                          </a:rPr>
                        </m:ctrlPr>
                      </m:sSubSupPr>
                      <m:e>
                        <m:r>
                          <a:rPr lang="es-ES" i="1">
                            <a:latin typeface="Cambria Math" panose="02040503050406030204" pitchFamily="18" charset="0"/>
                          </a:rPr>
                          <m:t>𝑦</m:t>
                        </m:r>
                      </m:e>
                      <m:sub>
                        <m:r>
                          <a:rPr lang="es-ES" i="1">
                            <a:latin typeface="Cambria Math" panose="02040503050406030204" pitchFamily="18" charset="0"/>
                          </a:rPr>
                          <m:t>𝑡</m:t>
                        </m:r>
                      </m:sub>
                      <m:sup>
                        <m:r>
                          <a:rPr lang="es-ES" i="1">
                            <a:latin typeface="Cambria Math" panose="02040503050406030204" pitchFamily="18" charset="0"/>
                          </a:rPr>
                          <m:t>𝑔𝑎𝑝</m:t>
                        </m:r>
                      </m:sup>
                    </m:sSubSup>
                  </m:oMath>
                </a14:m>
                <a:r>
                  <a:rPr lang="es-ES" dirty="0"/>
                  <a:t>: Brecha de Producto (diferencia entre crecimiento del PBI esperado y crecimiento del PBI efectivo). </a:t>
                </a:r>
              </a:p>
              <a:p>
                <a:pPr marL="285750" lvl="0" indent="-285750">
                  <a:buFont typeface="Arial" panose="020B0604020202020204" pitchFamily="34" charset="0"/>
                  <a:buChar char="•"/>
                </a:pPr>
                <a:endParaRPr lang="en-US" dirty="0"/>
              </a:p>
              <a:p>
                <a:pPr marL="285750" indent="-285750">
                  <a:buFont typeface="Arial" panose="020B0604020202020204" pitchFamily="34" charset="0"/>
                  <a:buChar char="•"/>
                </a:pPr>
                <a:r>
                  <a:rPr lang="es-ES" dirty="0"/>
                  <a:t>La regla lo que hace es producir una tasa de interés más alta cuando la inflación está por encima de lo esperado, o cuando el PBI crece más de lo esperado, de manera de reducir la tasa de inflación. Inversamente, cuando la inflación es baja o el PBI crece por debajo de lo esperado, se estimula la economía bajando la tasa de interés. De esta forma, la Regla de Taylor actúa como una política </a:t>
                </a:r>
                <a:r>
                  <a:rPr lang="es-ES" dirty="0" err="1"/>
                  <a:t>contracíclica</a:t>
                </a:r>
                <a:r>
                  <a:rPr lang="es-ES" dirty="0"/>
                  <a:t>. </a:t>
                </a:r>
                <a:endParaRPr lang="en-US" dirty="0"/>
              </a:p>
            </p:txBody>
          </p:sp>
        </mc:Choice>
        <mc:Fallback xmlns="">
          <p:sp>
            <p:nvSpPr>
              <p:cNvPr id="19" name="TextBox 18">
                <a:extLst>
                  <a:ext uri="{FF2B5EF4-FFF2-40B4-BE49-F238E27FC236}">
                    <a16:creationId xmlns:a16="http://schemas.microsoft.com/office/drawing/2014/main" id="{1C3342CF-CD3A-7215-BB91-256D3E03F029}"/>
                  </a:ext>
                </a:extLst>
              </p:cNvPr>
              <p:cNvSpPr txBox="1">
                <a:spLocks noRot="1" noChangeAspect="1" noMove="1" noResize="1" noEditPoints="1" noAdjustHandles="1" noChangeArrowheads="1" noChangeShapeType="1" noTextEdit="1"/>
              </p:cNvSpPr>
              <p:nvPr/>
            </p:nvSpPr>
            <p:spPr>
              <a:xfrm>
                <a:off x="1189820" y="1211854"/>
                <a:ext cx="12338891" cy="4317464"/>
              </a:xfrm>
              <a:prstGeom prst="rect">
                <a:avLst/>
              </a:prstGeom>
              <a:blipFill>
                <a:blip r:embed="rId3"/>
                <a:stretch>
                  <a:fillRect l="-395" t="-847" r="-543" b="-1412"/>
                </a:stretch>
              </a:blipFill>
            </p:spPr>
            <p:txBody>
              <a:bodyPr/>
              <a:lstStyle/>
              <a:p>
                <a:r>
                  <a:rPr lang="en-US">
                    <a:noFill/>
                  </a:rPr>
                  <a:t> </a:t>
                </a:r>
              </a:p>
            </p:txBody>
          </p:sp>
        </mc:Fallback>
      </mc:AlternateContent>
      <p:sp>
        <p:nvSpPr>
          <p:cNvPr id="2" name="TextBox 1">
            <a:extLst>
              <a:ext uri="{FF2B5EF4-FFF2-40B4-BE49-F238E27FC236}">
                <a16:creationId xmlns:a16="http://schemas.microsoft.com/office/drawing/2014/main" id="{21F388BE-6A65-83B7-934A-85298B6DA37F}"/>
              </a:ext>
            </a:extLst>
          </p:cNvPr>
          <p:cNvSpPr txBox="1"/>
          <p:nvPr/>
        </p:nvSpPr>
        <p:spPr>
          <a:xfrm>
            <a:off x="609072" y="566227"/>
            <a:ext cx="3863776" cy="461665"/>
          </a:xfrm>
          <a:prstGeom prst="rect">
            <a:avLst/>
          </a:prstGeom>
          <a:noFill/>
        </p:spPr>
        <p:txBody>
          <a:bodyPr wrap="square" rtlCol="0">
            <a:spAutoFit/>
          </a:bodyPr>
          <a:lstStyle/>
          <a:p>
            <a:r>
              <a:rPr lang="es-ES" sz="2400" dirty="0">
                <a:latin typeface="Source Sans 3" panose="020B0604020202020204" charset="0"/>
              </a:rPr>
              <a:t>Regla de Taylor</a:t>
            </a:r>
            <a:endParaRPr lang="en-US" dirty="0">
              <a:latin typeface="Source Sans 3" panose="020B0604020202020204" charset="0"/>
            </a:endParaRPr>
          </a:p>
        </p:txBody>
      </p:sp>
    </p:spTree>
    <p:extLst>
      <p:ext uri="{BB962C8B-B14F-4D97-AF65-F5344CB8AC3E}">
        <p14:creationId xmlns:p14="http://schemas.microsoft.com/office/powerpoint/2010/main" val="258592528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478111-C12D-4F0D-BF05-6A77C4BD55AB}"/>
            </a:ext>
          </a:extLst>
        </p:cNvPr>
        <p:cNvGrpSpPr/>
        <p:nvPr/>
      </p:nvGrpSpPr>
      <p:grpSpPr>
        <a:xfrm>
          <a:off x="0" y="0"/>
          <a:ext cx="0" cy="0"/>
          <a:chOff x="0" y="0"/>
          <a:chExt cx="0" cy="0"/>
        </a:xfrm>
      </p:grpSpPr>
      <p:sp>
        <p:nvSpPr>
          <p:cNvPr id="5" name="Shape 3">
            <a:extLst>
              <a:ext uri="{FF2B5EF4-FFF2-40B4-BE49-F238E27FC236}">
                <a16:creationId xmlns:a16="http://schemas.microsoft.com/office/drawing/2014/main" id="{4C36011F-B4BF-CC55-849B-1E01CBDF2B28}"/>
              </a:ext>
            </a:extLst>
          </p:cNvPr>
          <p:cNvSpPr/>
          <p:nvPr/>
        </p:nvSpPr>
        <p:spPr>
          <a:xfrm>
            <a:off x="763310" y="1211853"/>
            <a:ext cx="121920" cy="5949112"/>
          </a:xfrm>
          <a:prstGeom prst="roundRect">
            <a:avLst>
              <a:gd name="adj" fmla="val 27907"/>
            </a:avLst>
          </a:prstGeom>
          <a:solidFill>
            <a:srgbClr val="325F7B"/>
          </a:solidFill>
          <a:ln/>
        </p:spPr>
        <p:txBody>
          <a:bodyPr/>
          <a:lstStyle/>
          <a:p>
            <a:endParaRPr lang="es-ES" noProof="0" dirty="0"/>
          </a:p>
        </p:txBody>
      </p: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5E03ED60-7BC3-E02B-DE29-B0076EBB3B81}"/>
                  </a:ext>
                </a:extLst>
              </p:cNvPr>
              <p:cNvSpPr txBox="1"/>
              <p:nvPr/>
            </p:nvSpPr>
            <p:spPr>
              <a:xfrm>
                <a:off x="1189820" y="1211854"/>
                <a:ext cx="12338891" cy="6032870"/>
              </a:xfrm>
              <a:prstGeom prst="rect">
                <a:avLst/>
              </a:prstGeom>
              <a:noFill/>
            </p:spPr>
            <p:txBody>
              <a:bodyPr wrap="square" rtlCol="0">
                <a:spAutoFit/>
              </a:bodyPr>
              <a:lstStyle/>
              <a:p>
                <a:pPr marL="285750" indent="-285750">
                  <a:buFont typeface="Arial" panose="020B0604020202020204" pitchFamily="34" charset="0"/>
                  <a:buChar char="•"/>
                </a:pPr>
                <a:r>
                  <a:rPr lang="es-ES" dirty="0"/>
                  <a:t>Basándonos en los </a:t>
                </a:r>
                <a:r>
                  <a:rPr lang="es-ES" dirty="0" err="1"/>
                  <a:t>papers</a:t>
                </a:r>
                <a:r>
                  <a:rPr lang="es-ES" dirty="0"/>
                  <a:t> de </a:t>
                </a:r>
                <a:r>
                  <a:rPr lang="es-ES" dirty="0" err="1"/>
                  <a:t>Clarida</a:t>
                </a:r>
                <a:r>
                  <a:rPr lang="es-ES" dirty="0"/>
                  <a:t>, Galí y </a:t>
                </a:r>
                <a:r>
                  <a:rPr lang="es-ES" dirty="0" err="1"/>
                  <a:t>Gertler</a:t>
                </a:r>
                <a:r>
                  <a:rPr lang="es-ES" dirty="0"/>
                  <a:t> (2000) y Hofmann, Manea y </a:t>
                </a:r>
                <a:r>
                  <a:rPr lang="es-ES" dirty="0" err="1"/>
                  <a:t>Mojon</a:t>
                </a:r>
                <a:r>
                  <a:rPr lang="es-ES" dirty="0"/>
                  <a:t> (2024) se escogió el período 1980-2006, que abarca las gestiones de Volcker y Greenspan como presidentes de la Reserva Federal, y se caracterizó por una política monetaria agresiva. A su vez, de esta forma se evita la crisis financiera de 2007 y el período de tasa cero (ZLB) que le siguió. </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s-ES" dirty="0"/>
                  <a:t>Estos </a:t>
                </a:r>
                <a:r>
                  <a:rPr lang="es-ES" dirty="0" err="1"/>
                  <a:t>papers</a:t>
                </a:r>
                <a:r>
                  <a:rPr lang="es-ES" dirty="0"/>
                  <a:t> utilizan OLS clásico en sus estimaciones.</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s-ES" dirty="0"/>
                  <a:t>En la misma línea, la formulación matemática adoptada fue la siguiente:</a:t>
                </a:r>
              </a:p>
              <a:p>
                <a:pPr marL="285750" indent="-285750">
                  <a:buFont typeface="Arial" panose="020B0604020202020204" pitchFamily="34" charset="0"/>
                  <a:buChar char="•"/>
                </a:pPr>
                <a:endParaRPr lang="en-US" dirty="0"/>
              </a:p>
              <a:p>
                <a:pPr/>
                <a14:m>
                  <m:oMathPara xmlns:m="http://schemas.openxmlformats.org/officeDocument/2006/math">
                    <m:oMathParaPr>
                      <m:jc m:val="centerGroup"/>
                    </m:oMathParaPr>
                    <m:oMath xmlns:m="http://schemas.openxmlformats.org/officeDocument/2006/math">
                      <m:sSub>
                        <m:sSubPr>
                          <m:ctrlPr>
                            <a:rPr lang="en-US" i="1">
                              <a:latin typeface="Cambria Math" panose="02040503050406030204" pitchFamily="18" charset="0"/>
                            </a:rPr>
                          </m:ctrlPr>
                        </m:sSubPr>
                        <m:e>
                          <m:r>
                            <a:rPr lang="es-ES" i="1">
                              <a:latin typeface="Cambria Math" panose="02040503050406030204" pitchFamily="18" charset="0"/>
                            </a:rPr>
                            <m:t>𝑖</m:t>
                          </m:r>
                        </m:e>
                        <m:sub>
                          <m:r>
                            <a:rPr lang="es-ES" i="1">
                              <a:latin typeface="Cambria Math" panose="02040503050406030204" pitchFamily="18" charset="0"/>
                            </a:rPr>
                            <m:t>𝑡</m:t>
                          </m:r>
                        </m:sub>
                      </m:sSub>
                      <m:r>
                        <a:rPr lang="es-ES" i="1">
                          <a:latin typeface="Cambria Math" panose="02040503050406030204" pitchFamily="18" charset="0"/>
                        </a:rPr>
                        <m:t>=</m:t>
                      </m:r>
                      <m:sSub>
                        <m:sSubPr>
                          <m:ctrlPr>
                            <a:rPr lang="en-US" i="1">
                              <a:latin typeface="Cambria Math" panose="02040503050406030204" pitchFamily="18" charset="0"/>
                            </a:rPr>
                          </m:ctrlPr>
                        </m:sSubPr>
                        <m:e>
                          <m:r>
                            <a:rPr lang="es-ES" i="1">
                              <a:latin typeface="Cambria Math" panose="02040503050406030204" pitchFamily="18" charset="0"/>
                            </a:rPr>
                            <m:t>𝑖</m:t>
                          </m:r>
                        </m:e>
                        <m:sub>
                          <m:r>
                            <a:rPr lang="es-ES" i="1">
                              <a:latin typeface="Cambria Math" panose="02040503050406030204" pitchFamily="18" charset="0"/>
                            </a:rPr>
                            <m:t>𝑡</m:t>
                          </m:r>
                          <m:r>
                            <a:rPr lang="es-ES" i="1">
                              <a:latin typeface="Cambria Math" panose="02040503050406030204" pitchFamily="18" charset="0"/>
                            </a:rPr>
                            <m:t>−1</m:t>
                          </m:r>
                        </m:sub>
                      </m:sSub>
                      <m:r>
                        <a:rPr lang="es-ES" i="1">
                          <a:latin typeface="Cambria Math" panose="02040503050406030204" pitchFamily="18" charset="0"/>
                        </a:rPr>
                        <m:t>+</m:t>
                      </m:r>
                      <m:sSub>
                        <m:sSubPr>
                          <m:ctrlPr>
                            <a:rPr lang="en-US" i="1">
                              <a:latin typeface="Cambria Math" panose="02040503050406030204" pitchFamily="18" charset="0"/>
                            </a:rPr>
                          </m:ctrlPr>
                        </m:sSubPr>
                        <m:e>
                          <m:r>
                            <a:rPr lang="es-ES" i="1">
                              <a:latin typeface="Cambria Math" panose="02040503050406030204" pitchFamily="18" charset="0"/>
                            </a:rPr>
                            <m:t>𝑎</m:t>
                          </m:r>
                        </m:e>
                        <m:sub>
                          <m:r>
                            <a:rPr lang="es-ES" i="1">
                              <a:latin typeface="Cambria Math" panose="02040503050406030204" pitchFamily="18" charset="0"/>
                            </a:rPr>
                            <m:t>𝜋</m:t>
                          </m:r>
                        </m:sub>
                      </m:sSub>
                      <m:r>
                        <a:rPr lang="es-ES" i="1">
                          <a:latin typeface="Cambria Math" panose="02040503050406030204" pitchFamily="18" charset="0"/>
                        </a:rPr>
                        <m:t>(</m:t>
                      </m:r>
                      <m:sSub>
                        <m:sSubPr>
                          <m:ctrlPr>
                            <a:rPr lang="en-US" i="1">
                              <a:latin typeface="Cambria Math" panose="02040503050406030204" pitchFamily="18" charset="0"/>
                            </a:rPr>
                          </m:ctrlPr>
                        </m:sSubPr>
                        <m:e>
                          <m:r>
                            <a:rPr lang="es-ES" i="1">
                              <a:latin typeface="Cambria Math" panose="02040503050406030204" pitchFamily="18" charset="0"/>
                            </a:rPr>
                            <m:t>𝜋</m:t>
                          </m:r>
                        </m:e>
                        <m:sub>
                          <m:r>
                            <a:rPr lang="es-ES" i="1">
                              <a:latin typeface="Cambria Math" panose="02040503050406030204" pitchFamily="18" charset="0"/>
                            </a:rPr>
                            <m:t>𝑡</m:t>
                          </m:r>
                        </m:sub>
                      </m:sSub>
                      <m:r>
                        <a:rPr lang="es-ES" i="1">
                          <a:latin typeface="Cambria Math" panose="02040503050406030204" pitchFamily="18" charset="0"/>
                        </a:rPr>
                        <m:t>​−</m:t>
                      </m:r>
                      <m:sSubSup>
                        <m:sSubSupPr>
                          <m:ctrlPr>
                            <a:rPr lang="en-US" i="1">
                              <a:latin typeface="Cambria Math" panose="02040503050406030204" pitchFamily="18" charset="0"/>
                            </a:rPr>
                          </m:ctrlPr>
                        </m:sSubSupPr>
                        <m:e>
                          <m:r>
                            <a:rPr lang="es-ES" i="1">
                              <a:latin typeface="Cambria Math" panose="02040503050406030204" pitchFamily="18" charset="0"/>
                            </a:rPr>
                            <m:t>𝜋</m:t>
                          </m:r>
                        </m:e>
                        <m:sub>
                          <m:r>
                            <a:rPr lang="es-ES" i="1">
                              <a:latin typeface="Cambria Math" panose="02040503050406030204" pitchFamily="18" charset="0"/>
                            </a:rPr>
                            <m:t>𝑡</m:t>
                          </m:r>
                        </m:sub>
                        <m:sup>
                          <m:r>
                            <a:rPr lang="es-ES" i="1">
                              <a:latin typeface="Cambria Math" panose="02040503050406030204" pitchFamily="18" charset="0"/>
                            </a:rPr>
                            <m:t>𝑒</m:t>
                          </m:r>
                        </m:sup>
                      </m:sSubSup>
                      <m:r>
                        <a:rPr lang="es-ES" i="1">
                          <a:latin typeface="Cambria Math" panose="02040503050406030204" pitchFamily="18" charset="0"/>
                        </a:rPr>
                        <m:t>)+</m:t>
                      </m:r>
                      <m:sSub>
                        <m:sSubPr>
                          <m:ctrlPr>
                            <a:rPr lang="en-US" i="1">
                              <a:latin typeface="Cambria Math" panose="02040503050406030204" pitchFamily="18" charset="0"/>
                            </a:rPr>
                          </m:ctrlPr>
                        </m:sSubPr>
                        <m:e>
                          <m:r>
                            <a:rPr lang="es-ES" i="1">
                              <a:latin typeface="Cambria Math" panose="02040503050406030204" pitchFamily="18" charset="0"/>
                            </a:rPr>
                            <m:t>𝑎</m:t>
                          </m:r>
                        </m:e>
                        <m:sub>
                          <m:r>
                            <a:rPr lang="es-ES" i="1">
                              <a:latin typeface="Cambria Math" panose="02040503050406030204" pitchFamily="18" charset="0"/>
                            </a:rPr>
                            <m:t>𝑦</m:t>
                          </m:r>
                        </m:sub>
                      </m:sSub>
                      <m:sSubSup>
                        <m:sSubSupPr>
                          <m:ctrlPr>
                            <a:rPr lang="en-US" i="1">
                              <a:latin typeface="Cambria Math" panose="02040503050406030204" pitchFamily="18" charset="0"/>
                            </a:rPr>
                          </m:ctrlPr>
                        </m:sSubSupPr>
                        <m:e>
                          <m:r>
                            <a:rPr lang="es-ES" i="1">
                              <a:latin typeface="Cambria Math" panose="02040503050406030204" pitchFamily="18" charset="0"/>
                            </a:rPr>
                            <m:t>𝑦</m:t>
                          </m:r>
                        </m:e>
                        <m:sub>
                          <m:r>
                            <a:rPr lang="es-ES" i="1">
                              <a:latin typeface="Cambria Math" panose="02040503050406030204" pitchFamily="18" charset="0"/>
                            </a:rPr>
                            <m:t>𝑡</m:t>
                          </m:r>
                        </m:sub>
                        <m:sup>
                          <m:r>
                            <a:rPr lang="es-ES" i="1">
                              <a:latin typeface="Cambria Math" panose="02040503050406030204" pitchFamily="18" charset="0"/>
                            </a:rPr>
                            <m:t>𝑔𝑎𝑝</m:t>
                          </m:r>
                        </m:sup>
                      </m:sSubSup>
                      <m:r>
                        <a:rPr lang="es-ES" i="1">
                          <a:latin typeface="Cambria Math" panose="02040503050406030204" pitchFamily="18" charset="0"/>
                        </a:rPr>
                        <m:t>​</m:t>
                      </m:r>
                    </m:oMath>
                  </m:oMathPara>
                </a14:m>
                <a:endParaRPr lang="en-US" dirty="0"/>
              </a:p>
              <a:p>
                <a:r>
                  <a:rPr lang="es-ES" dirty="0"/>
                  <a:t>Donde,</a:t>
                </a:r>
                <a:endParaRPr lang="en-US" dirty="0"/>
              </a:p>
              <a:p>
                <a:pPr marL="285750" lvl="0" indent="-285750">
                  <a:buFont typeface="Arial" panose="020B0604020202020204" pitchFamily="34" charset="0"/>
                  <a:buChar char="•"/>
                </a:pPr>
                <a14:m>
                  <m:oMath xmlns:m="http://schemas.openxmlformats.org/officeDocument/2006/math">
                    <m:r>
                      <a:rPr lang="es-ES" i="1">
                        <a:latin typeface="Cambria Math" panose="02040503050406030204" pitchFamily="18" charset="0"/>
                      </a:rPr>
                      <m:t>𝑖</m:t>
                    </m:r>
                  </m:oMath>
                </a14:m>
                <a:r>
                  <a:rPr lang="es-ES" dirty="0"/>
                  <a:t>: Tasa de interés</a:t>
                </a:r>
                <a:endParaRPr lang="en-US" dirty="0"/>
              </a:p>
              <a:p>
                <a:pPr marL="285750" lvl="0" indent="-285750">
                  <a:buFont typeface="Arial" panose="020B0604020202020204" pitchFamily="34" charset="0"/>
                  <a:buChar char="•"/>
                </a:pPr>
                <a14:m>
                  <m:oMath xmlns:m="http://schemas.openxmlformats.org/officeDocument/2006/math">
                    <m:r>
                      <a:rPr lang="es-ES" i="1">
                        <a:latin typeface="Cambria Math" panose="02040503050406030204" pitchFamily="18" charset="0"/>
                      </a:rPr>
                      <m:t>𝜋</m:t>
                    </m:r>
                  </m:oMath>
                </a14:m>
                <a:r>
                  <a:rPr lang="es-ES" dirty="0"/>
                  <a:t>: Tasa de Inflación observada</a:t>
                </a:r>
                <a:endParaRPr lang="en-US" dirty="0"/>
              </a:p>
              <a:p>
                <a:pPr marL="285750" lvl="0" indent="-285750">
                  <a:buFont typeface="Arial" panose="020B0604020202020204" pitchFamily="34" charset="0"/>
                  <a:buChar char="•"/>
                </a:pPr>
                <a14:m>
                  <m:oMath xmlns:m="http://schemas.openxmlformats.org/officeDocument/2006/math">
                    <m:sSup>
                      <m:sSupPr>
                        <m:ctrlPr>
                          <a:rPr lang="en-US" i="1">
                            <a:latin typeface="Cambria Math" panose="02040503050406030204" pitchFamily="18" charset="0"/>
                          </a:rPr>
                        </m:ctrlPr>
                      </m:sSupPr>
                      <m:e>
                        <m:r>
                          <a:rPr lang="es-ES" i="1">
                            <a:latin typeface="Cambria Math" panose="02040503050406030204" pitchFamily="18" charset="0"/>
                          </a:rPr>
                          <m:t>𝜋</m:t>
                        </m:r>
                      </m:e>
                      <m:sup>
                        <m:r>
                          <a:rPr lang="es-ES" i="1">
                            <a:latin typeface="Cambria Math" panose="02040503050406030204" pitchFamily="18" charset="0"/>
                          </a:rPr>
                          <m:t>𝑒</m:t>
                        </m:r>
                      </m:sup>
                    </m:sSup>
                  </m:oMath>
                </a14:m>
                <a:r>
                  <a:rPr lang="es-ES" dirty="0"/>
                  <a:t>: Tasa de Inflación esperada</a:t>
                </a:r>
                <a:endParaRPr lang="en-US" dirty="0"/>
              </a:p>
              <a:p>
                <a:pPr marL="285750" lvl="0" indent="-285750">
                  <a:buFont typeface="Arial" panose="020B0604020202020204" pitchFamily="34" charset="0"/>
                  <a:buChar char="•"/>
                </a:pPr>
                <a14:m>
                  <m:oMath xmlns:m="http://schemas.openxmlformats.org/officeDocument/2006/math">
                    <m:sSubSup>
                      <m:sSubSupPr>
                        <m:ctrlPr>
                          <a:rPr lang="en-US" i="1">
                            <a:latin typeface="Cambria Math" panose="02040503050406030204" pitchFamily="18" charset="0"/>
                          </a:rPr>
                        </m:ctrlPr>
                      </m:sSubSupPr>
                      <m:e>
                        <m:r>
                          <a:rPr lang="es-ES" i="1">
                            <a:latin typeface="Cambria Math" panose="02040503050406030204" pitchFamily="18" charset="0"/>
                          </a:rPr>
                          <m:t>𝑦</m:t>
                        </m:r>
                      </m:e>
                      <m:sub>
                        <m:r>
                          <a:rPr lang="es-ES" i="1">
                            <a:latin typeface="Cambria Math" panose="02040503050406030204" pitchFamily="18" charset="0"/>
                          </a:rPr>
                          <m:t>𝑡</m:t>
                        </m:r>
                      </m:sub>
                      <m:sup>
                        <m:r>
                          <a:rPr lang="es-ES" i="1">
                            <a:latin typeface="Cambria Math" panose="02040503050406030204" pitchFamily="18" charset="0"/>
                          </a:rPr>
                          <m:t>𝑔𝑎𝑝</m:t>
                        </m:r>
                      </m:sup>
                    </m:sSubSup>
                  </m:oMath>
                </a14:m>
                <a:r>
                  <a:rPr lang="es-ES" dirty="0"/>
                  <a:t>: Brecha de producto</a:t>
                </a:r>
                <a:endParaRPr lang="en-US" dirty="0"/>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s-ES" dirty="0"/>
                  <a:t>Renombrando </a:t>
                </a:r>
                <a14:m>
                  <m:oMath xmlns:m="http://schemas.openxmlformats.org/officeDocument/2006/math">
                    <m:sSubSup>
                      <m:sSubSupPr>
                        <m:ctrlPr>
                          <a:rPr lang="en-US" i="1">
                            <a:latin typeface="Cambria Math" panose="02040503050406030204" pitchFamily="18" charset="0"/>
                          </a:rPr>
                        </m:ctrlPr>
                      </m:sSubSupPr>
                      <m:e>
                        <m:r>
                          <a:rPr lang="es-ES" i="1">
                            <a:latin typeface="Cambria Math" panose="02040503050406030204" pitchFamily="18" charset="0"/>
                          </a:rPr>
                          <m:t>𝜋</m:t>
                        </m:r>
                      </m:e>
                      <m:sub>
                        <m:r>
                          <a:rPr lang="es-ES" i="1">
                            <a:latin typeface="Cambria Math" panose="02040503050406030204" pitchFamily="18" charset="0"/>
                          </a:rPr>
                          <m:t>𝑡</m:t>
                        </m:r>
                      </m:sub>
                      <m:sup>
                        <m:r>
                          <a:rPr lang="es-ES" i="1">
                            <a:latin typeface="Cambria Math" panose="02040503050406030204" pitchFamily="18" charset="0"/>
                          </a:rPr>
                          <m:t>𝑔𝑎𝑝</m:t>
                        </m:r>
                      </m:sup>
                    </m:sSubSup>
                    <m:r>
                      <a:rPr lang="es-ES" i="1">
                        <a:latin typeface="Cambria Math" panose="02040503050406030204" pitchFamily="18" charset="0"/>
                      </a:rPr>
                      <m:t>=(</m:t>
                    </m:r>
                    <m:sSub>
                      <m:sSubPr>
                        <m:ctrlPr>
                          <a:rPr lang="en-US" i="1">
                            <a:latin typeface="Cambria Math" panose="02040503050406030204" pitchFamily="18" charset="0"/>
                          </a:rPr>
                        </m:ctrlPr>
                      </m:sSubPr>
                      <m:e>
                        <m:r>
                          <a:rPr lang="es-ES" i="1">
                            <a:latin typeface="Cambria Math" panose="02040503050406030204" pitchFamily="18" charset="0"/>
                          </a:rPr>
                          <m:t>𝜋</m:t>
                        </m:r>
                      </m:e>
                      <m:sub>
                        <m:r>
                          <a:rPr lang="es-ES" i="1">
                            <a:latin typeface="Cambria Math" panose="02040503050406030204" pitchFamily="18" charset="0"/>
                          </a:rPr>
                          <m:t>𝑡</m:t>
                        </m:r>
                      </m:sub>
                    </m:sSub>
                    <m:r>
                      <a:rPr lang="es-ES" i="1">
                        <a:latin typeface="Cambria Math" panose="02040503050406030204" pitchFamily="18" charset="0"/>
                      </a:rPr>
                      <m:t>​−</m:t>
                    </m:r>
                    <m:sSubSup>
                      <m:sSubSupPr>
                        <m:ctrlPr>
                          <a:rPr lang="en-US" i="1">
                            <a:latin typeface="Cambria Math" panose="02040503050406030204" pitchFamily="18" charset="0"/>
                          </a:rPr>
                        </m:ctrlPr>
                      </m:sSubSupPr>
                      <m:e>
                        <m:r>
                          <a:rPr lang="es-ES" i="1">
                            <a:latin typeface="Cambria Math" panose="02040503050406030204" pitchFamily="18" charset="0"/>
                          </a:rPr>
                          <m:t>𝜋</m:t>
                        </m:r>
                      </m:e>
                      <m:sub>
                        <m:r>
                          <a:rPr lang="es-ES" i="1">
                            <a:latin typeface="Cambria Math" panose="02040503050406030204" pitchFamily="18" charset="0"/>
                          </a:rPr>
                          <m:t>𝑡</m:t>
                        </m:r>
                      </m:sub>
                      <m:sup>
                        <m:r>
                          <a:rPr lang="es-ES" i="1">
                            <a:latin typeface="Cambria Math" panose="02040503050406030204" pitchFamily="18" charset="0"/>
                          </a:rPr>
                          <m:t>𝑒</m:t>
                        </m:r>
                      </m:sup>
                    </m:sSubSup>
                    <m:r>
                      <a:rPr lang="es-ES" i="1">
                        <a:latin typeface="Cambria Math" panose="02040503050406030204" pitchFamily="18" charset="0"/>
                      </a:rPr>
                      <m:t>)</m:t>
                    </m:r>
                  </m:oMath>
                </a14:m>
                <a:r>
                  <a:rPr lang="es-ES" dirty="0"/>
                  <a:t>, añadiendo variables de control y expresando en términos del modelo de regresión, la ecuación queda:</a:t>
                </a:r>
                <a:endParaRPr lang="en-US" dirty="0"/>
              </a:p>
              <a:p>
                <a:pPr/>
                <a14:m>
                  <m:oMathPara xmlns:m="http://schemas.openxmlformats.org/officeDocument/2006/math">
                    <m:oMathParaPr>
                      <m:jc m:val="centerGroup"/>
                    </m:oMathParaPr>
                    <m:oMath xmlns:m="http://schemas.openxmlformats.org/officeDocument/2006/math">
                      <m:sSub>
                        <m:sSubPr>
                          <m:ctrlPr>
                            <a:rPr lang="en-US" i="1">
                              <a:latin typeface="Cambria Math" panose="02040503050406030204" pitchFamily="18" charset="0"/>
                            </a:rPr>
                          </m:ctrlPr>
                        </m:sSubPr>
                        <m:e>
                          <m:r>
                            <a:rPr lang="es-ES" i="1">
                              <a:latin typeface="Cambria Math" panose="02040503050406030204" pitchFamily="18" charset="0"/>
                            </a:rPr>
                            <m:t>𝑖</m:t>
                          </m:r>
                        </m:e>
                        <m:sub>
                          <m:r>
                            <a:rPr lang="es-ES" i="1">
                              <a:latin typeface="Cambria Math" panose="02040503050406030204" pitchFamily="18" charset="0"/>
                            </a:rPr>
                            <m:t>𝑡</m:t>
                          </m:r>
                        </m:sub>
                      </m:sSub>
                      <m:r>
                        <a:rPr lang="es-ES" i="1">
                          <a:latin typeface="Cambria Math" panose="02040503050406030204" pitchFamily="18" charset="0"/>
                        </a:rPr>
                        <m:t>=</m:t>
                      </m:r>
                      <m:sSub>
                        <m:sSubPr>
                          <m:ctrlPr>
                            <a:rPr lang="en-US" i="1">
                              <a:latin typeface="Cambria Math" panose="02040503050406030204" pitchFamily="18" charset="0"/>
                            </a:rPr>
                          </m:ctrlPr>
                        </m:sSubPr>
                        <m:e>
                          <m:sSub>
                            <m:sSubPr>
                              <m:ctrlPr>
                                <a:rPr lang="en-US" i="1">
                                  <a:latin typeface="Cambria Math" panose="02040503050406030204" pitchFamily="18" charset="0"/>
                                </a:rPr>
                              </m:ctrlPr>
                            </m:sSubPr>
                            <m:e>
                              <m:sSub>
                                <m:sSubPr>
                                  <m:ctrlPr>
                                    <a:rPr lang="en-US" i="1">
                                      <a:latin typeface="Cambria Math" panose="02040503050406030204" pitchFamily="18" charset="0"/>
                                    </a:rPr>
                                  </m:ctrlPr>
                                </m:sSubPr>
                                <m:e>
                                  <m:r>
                                    <a:rPr lang="es-ES" i="1">
                                      <a:latin typeface="Cambria Math" panose="02040503050406030204" pitchFamily="18" charset="0"/>
                                    </a:rPr>
                                    <m:t>𝛽</m:t>
                                  </m:r>
                                </m:e>
                                <m:sub>
                                  <m:r>
                                    <a:rPr lang="es-ES" i="1">
                                      <a:latin typeface="Cambria Math" panose="02040503050406030204" pitchFamily="18" charset="0"/>
                                    </a:rPr>
                                    <m:t>0</m:t>
                                  </m:r>
                                </m:sub>
                              </m:sSub>
                              <m:r>
                                <a:rPr lang="es-ES" i="1">
                                  <a:latin typeface="Cambria Math" panose="02040503050406030204" pitchFamily="18" charset="0"/>
                                </a:rPr>
                                <m:t>+ </m:t>
                              </m:r>
                              <m:r>
                                <a:rPr lang="es-ES" i="1">
                                  <a:latin typeface="Cambria Math" panose="02040503050406030204" pitchFamily="18" charset="0"/>
                                </a:rPr>
                                <m:t>𝛽</m:t>
                              </m:r>
                            </m:e>
                            <m:sub>
                              <m:r>
                                <a:rPr lang="es-ES" i="1">
                                  <a:latin typeface="Cambria Math" panose="02040503050406030204" pitchFamily="18" charset="0"/>
                                </a:rPr>
                                <m:t>1</m:t>
                              </m:r>
                            </m:sub>
                          </m:sSub>
                          <m:r>
                            <a:rPr lang="es-ES" i="1">
                              <a:latin typeface="Cambria Math" panose="02040503050406030204" pitchFamily="18" charset="0"/>
                            </a:rPr>
                            <m:t>𝑖</m:t>
                          </m:r>
                        </m:e>
                        <m:sub>
                          <m:r>
                            <a:rPr lang="es-ES" i="1">
                              <a:latin typeface="Cambria Math" panose="02040503050406030204" pitchFamily="18" charset="0"/>
                            </a:rPr>
                            <m:t>𝑡</m:t>
                          </m:r>
                          <m:r>
                            <a:rPr lang="es-ES" i="1">
                              <a:latin typeface="Cambria Math" panose="02040503050406030204" pitchFamily="18" charset="0"/>
                            </a:rPr>
                            <m:t>−1</m:t>
                          </m:r>
                        </m:sub>
                      </m:sSub>
                      <m:r>
                        <a:rPr lang="es-ES" i="1">
                          <a:latin typeface="Cambria Math" panose="02040503050406030204" pitchFamily="18" charset="0"/>
                        </a:rPr>
                        <m:t>+</m:t>
                      </m:r>
                      <m:sSub>
                        <m:sSubPr>
                          <m:ctrlPr>
                            <a:rPr lang="en-US" i="1">
                              <a:latin typeface="Cambria Math" panose="02040503050406030204" pitchFamily="18" charset="0"/>
                            </a:rPr>
                          </m:ctrlPr>
                        </m:sSubPr>
                        <m:e>
                          <m:r>
                            <a:rPr lang="es-ES" i="1">
                              <a:latin typeface="Cambria Math" panose="02040503050406030204" pitchFamily="18" charset="0"/>
                            </a:rPr>
                            <m:t>𝛽</m:t>
                          </m:r>
                        </m:e>
                        <m:sub>
                          <m:r>
                            <a:rPr lang="es-ES" i="1">
                              <a:latin typeface="Cambria Math" panose="02040503050406030204" pitchFamily="18" charset="0"/>
                            </a:rPr>
                            <m:t>2</m:t>
                          </m:r>
                        </m:sub>
                      </m:sSub>
                      <m:sSubSup>
                        <m:sSubSupPr>
                          <m:ctrlPr>
                            <a:rPr lang="en-US" i="1">
                              <a:latin typeface="Cambria Math" panose="02040503050406030204" pitchFamily="18" charset="0"/>
                            </a:rPr>
                          </m:ctrlPr>
                        </m:sSubSupPr>
                        <m:e>
                          <m:r>
                            <a:rPr lang="es-ES" i="1">
                              <a:latin typeface="Cambria Math" panose="02040503050406030204" pitchFamily="18" charset="0"/>
                            </a:rPr>
                            <m:t>𝜋</m:t>
                          </m:r>
                        </m:e>
                        <m:sub>
                          <m:r>
                            <a:rPr lang="es-ES" i="1">
                              <a:latin typeface="Cambria Math" panose="02040503050406030204" pitchFamily="18" charset="0"/>
                            </a:rPr>
                            <m:t>𝑡</m:t>
                          </m:r>
                        </m:sub>
                        <m:sup>
                          <m:r>
                            <a:rPr lang="es-ES" i="1">
                              <a:latin typeface="Cambria Math" panose="02040503050406030204" pitchFamily="18" charset="0"/>
                            </a:rPr>
                            <m:t>𝑔𝑎𝑝</m:t>
                          </m:r>
                        </m:sup>
                      </m:sSubSup>
                      <m:r>
                        <a:rPr lang="es-ES" i="1">
                          <a:latin typeface="Cambria Math" panose="02040503050406030204" pitchFamily="18" charset="0"/>
                        </a:rPr>
                        <m:t>+</m:t>
                      </m:r>
                      <m:sSub>
                        <m:sSubPr>
                          <m:ctrlPr>
                            <a:rPr lang="en-US" i="1">
                              <a:latin typeface="Cambria Math" panose="02040503050406030204" pitchFamily="18" charset="0"/>
                            </a:rPr>
                          </m:ctrlPr>
                        </m:sSubPr>
                        <m:e>
                          <m:r>
                            <a:rPr lang="es-ES" i="1">
                              <a:latin typeface="Cambria Math" panose="02040503050406030204" pitchFamily="18" charset="0"/>
                            </a:rPr>
                            <m:t>𝛽</m:t>
                          </m:r>
                        </m:e>
                        <m:sub>
                          <m:r>
                            <a:rPr lang="es-ES" i="1">
                              <a:latin typeface="Cambria Math" panose="02040503050406030204" pitchFamily="18" charset="0"/>
                            </a:rPr>
                            <m:t>3</m:t>
                          </m:r>
                        </m:sub>
                      </m:sSub>
                      <m:sSubSup>
                        <m:sSubSupPr>
                          <m:ctrlPr>
                            <a:rPr lang="en-US" i="1">
                              <a:latin typeface="Cambria Math" panose="02040503050406030204" pitchFamily="18" charset="0"/>
                            </a:rPr>
                          </m:ctrlPr>
                        </m:sSubSupPr>
                        <m:e>
                          <m:r>
                            <a:rPr lang="es-ES" i="1">
                              <a:latin typeface="Cambria Math" panose="02040503050406030204" pitchFamily="18" charset="0"/>
                            </a:rPr>
                            <m:t>𝑦</m:t>
                          </m:r>
                        </m:e>
                        <m:sub>
                          <m:r>
                            <a:rPr lang="es-ES" i="1">
                              <a:latin typeface="Cambria Math" panose="02040503050406030204" pitchFamily="18" charset="0"/>
                            </a:rPr>
                            <m:t>𝑡</m:t>
                          </m:r>
                        </m:sub>
                        <m:sup>
                          <m:r>
                            <a:rPr lang="es-ES" i="1">
                              <a:latin typeface="Cambria Math" panose="02040503050406030204" pitchFamily="18" charset="0"/>
                            </a:rPr>
                            <m:t>𝑔𝑎𝑝</m:t>
                          </m:r>
                        </m:sup>
                      </m:sSubSup>
                      <m:r>
                        <a:rPr lang="es-ES" i="1">
                          <a:latin typeface="Cambria Math" panose="02040503050406030204" pitchFamily="18" charset="0"/>
                        </a:rPr>
                        <m:t>​+ </m:t>
                      </m:r>
                      <m:sSub>
                        <m:sSubPr>
                          <m:ctrlPr>
                            <a:rPr lang="en-US" i="1">
                              <a:latin typeface="Cambria Math" panose="02040503050406030204" pitchFamily="18" charset="0"/>
                            </a:rPr>
                          </m:ctrlPr>
                        </m:sSubPr>
                        <m:e>
                          <m:r>
                            <a:rPr lang="es-ES" i="1">
                              <a:latin typeface="Cambria Math" panose="02040503050406030204" pitchFamily="18" charset="0"/>
                            </a:rPr>
                            <m:t>𝛽</m:t>
                          </m:r>
                        </m:e>
                        <m:sub>
                          <m:r>
                            <a:rPr lang="es-ES" i="1">
                              <a:latin typeface="Cambria Math" panose="02040503050406030204" pitchFamily="18" charset="0"/>
                            </a:rPr>
                            <m:t>𝑖</m:t>
                          </m:r>
                        </m:sub>
                      </m:sSub>
                      <m:sSub>
                        <m:sSubPr>
                          <m:ctrlPr>
                            <a:rPr lang="en-US" i="1">
                              <a:latin typeface="Cambria Math" panose="02040503050406030204" pitchFamily="18" charset="0"/>
                            </a:rPr>
                          </m:ctrlPr>
                        </m:sSubPr>
                        <m:e>
                          <m:r>
                            <a:rPr lang="es-ES" i="1">
                              <a:latin typeface="Cambria Math" panose="02040503050406030204" pitchFamily="18" charset="0"/>
                            </a:rPr>
                            <m:t>𝑥</m:t>
                          </m:r>
                        </m:e>
                        <m:sub>
                          <m:r>
                            <a:rPr lang="es-ES" i="1">
                              <a:latin typeface="Cambria Math" panose="02040503050406030204" pitchFamily="18" charset="0"/>
                            </a:rPr>
                            <m:t>𝑖</m:t>
                          </m:r>
                        </m:sub>
                      </m:sSub>
                      <m:r>
                        <a:rPr lang="es-ES" i="1">
                          <a:latin typeface="Cambria Math" panose="02040503050406030204" pitchFamily="18" charset="0"/>
                        </a:rPr>
                        <m:t>+</m:t>
                      </m:r>
                      <m:r>
                        <a:rPr lang="es-ES" i="1">
                          <a:latin typeface="Cambria Math" panose="02040503050406030204" pitchFamily="18" charset="0"/>
                        </a:rPr>
                        <m:t>𝜀</m:t>
                      </m:r>
                    </m:oMath>
                  </m:oMathPara>
                </a14:m>
                <a:endParaRPr lang="en-US" dirty="0"/>
              </a:p>
              <a:p>
                <a:endParaRPr lang="en-US" dirty="0"/>
              </a:p>
              <a:p>
                <a:pPr marL="285750" indent="-285750">
                  <a:buFont typeface="Arial" panose="020B0604020202020204" pitchFamily="34" charset="0"/>
                  <a:buChar char="•"/>
                </a:pPr>
                <a:r>
                  <a:rPr lang="es-ES" dirty="0"/>
                  <a:t>Donde  </a:t>
                </a:r>
                <a14:m>
                  <m:oMath xmlns:m="http://schemas.openxmlformats.org/officeDocument/2006/math">
                    <m:sSub>
                      <m:sSubPr>
                        <m:ctrlPr>
                          <a:rPr lang="en-US" i="1">
                            <a:latin typeface="Cambria Math" panose="02040503050406030204" pitchFamily="18" charset="0"/>
                          </a:rPr>
                        </m:ctrlPr>
                      </m:sSubPr>
                      <m:e>
                        <m:r>
                          <a:rPr lang="es-ES" i="1">
                            <a:latin typeface="Cambria Math" panose="02040503050406030204" pitchFamily="18" charset="0"/>
                          </a:rPr>
                          <m:t>𝑥</m:t>
                        </m:r>
                      </m:e>
                      <m:sub>
                        <m:r>
                          <a:rPr lang="es-ES" i="1">
                            <a:latin typeface="Cambria Math" panose="02040503050406030204" pitchFamily="18" charset="0"/>
                          </a:rPr>
                          <m:t>𝑖</m:t>
                        </m:r>
                      </m:sub>
                    </m:sSub>
                  </m:oMath>
                </a14:m>
                <a:r>
                  <a:rPr lang="es-ES" dirty="0"/>
                  <a:t> hace referencia a las variables de control que serán utilizadas a la hora de estimar el modelo. Para los parámetros se asumirán distribuciones </a:t>
                </a:r>
                <a:r>
                  <a:rPr lang="es-ES" i="1" dirty="0"/>
                  <a:t>prior</a:t>
                </a:r>
                <a:r>
                  <a:rPr lang="es-ES" dirty="0"/>
                  <a:t>, basadas en la bibliografía y en el método de </a:t>
                </a:r>
                <a:r>
                  <a:rPr lang="es-ES" dirty="0" err="1"/>
                  <a:t>Bayesian</a:t>
                </a:r>
                <a:r>
                  <a:rPr lang="es-ES" dirty="0"/>
                  <a:t> Lasso.</a:t>
                </a:r>
                <a:endParaRPr lang="en-US" dirty="0"/>
              </a:p>
            </p:txBody>
          </p:sp>
        </mc:Choice>
        <mc:Fallback xmlns="">
          <p:sp>
            <p:nvSpPr>
              <p:cNvPr id="19" name="TextBox 18">
                <a:extLst>
                  <a:ext uri="{FF2B5EF4-FFF2-40B4-BE49-F238E27FC236}">
                    <a16:creationId xmlns:a16="http://schemas.microsoft.com/office/drawing/2014/main" id="{5E03ED60-7BC3-E02B-DE29-B0076EBB3B81}"/>
                  </a:ext>
                </a:extLst>
              </p:cNvPr>
              <p:cNvSpPr txBox="1">
                <a:spLocks noRot="1" noChangeAspect="1" noMove="1" noResize="1" noEditPoints="1" noAdjustHandles="1" noChangeArrowheads="1" noChangeShapeType="1" noTextEdit="1"/>
              </p:cNvSpPr>
              <p:nvPr/>
            </p:nvSpPr>
            <p:spPr>
              <a:xfrm>
                <a:off x="1189820" y="1211854"/>
                <a:ext cx="12338891" cy="6032870"/>
              </a:xfrm>
              <a:prstGeom prst="rect">
                <a:avLst/>
              </a:prstGeom>
              <a:blipFill>
                <a:blip r:embed="rId3"/>
                <a:stretch>
                  <a:fillRect l="-395" t="-607" r="-445" b="-708"/>
                </a:stretch>
              </a:blipFill>
            </p:spPr>
            <p:txBody>
              <a:bodyPr/>
              <a:lstStyle/>
              <a:p>
                <a:r>
                  <a:rPr lang="en-US">
                    <a:noFill/>
                  </a:rPr>
                  <a:t> </a:t>
                </a:r>
              </a:p>
            </p:txBody>
          </p:sp>
        </mc:Fallback>
      </mc:AlternateContent>
      <p:sp>
        <p:nvSpPr>
          <p:cNvPr id="2" name="TextBox 1">
            <a:extLst>
              <a:ext uri="{FF2B5EF4-FFF2-40B4-BE49-F238E27FC236}">
                <a16:creationId xmlns:a16="http://schemas.microsoft.com/office/drawing/2014/main" id="{7AD8BC34-AB2D-D506-193A-CDC31A500F63}"/>
              </a:ext>
            </a:extLst>
          </p:cNvPr>
          <p:cNvSpPr txBox="1"/>
          <p:nvPr/>
        </p:nvSpPr>
        <p:spPr>
          <a:xfrm>
            <a:off x="609072" y="566227"/>
            <a:ext cx="3863776" cy="461665"/>
          </a:xfrm>
          <a:prstGeom prst="rect">
            <a:avLst/>
          </a:prstGeom>
          <a:noFill/>
        </p:spPr>
        <p:txBody>
          <a:bodyPr wrap="square" rtlCol="0">
            <a:spAutoFit/>
          </a:bodyPr>
          <a:lstStyle/>
          <a:p>
            <a:r>
              <a:rPr lang="es-ES" sz="2400" dirty="0">
                <a:latin typeface="Source Sans 3" panose="020B0604020202020204" charset="0"/>
              </a:rPr>
              <a:t>Regla de Taylor - Adaptación</a:t>
            </a:r>
            <a:endParaRPr lang="en-US" dirty="0">
              <a:latin typeface="Source Sans 3" panose="020B0604020202020204" charset="0"/>
            </a:endParaRPr>
          </a:p>
        </p:txBody>
      </p:sp>
    </p:spTree>
    <p:extLst>
      <p:ext uri="{BB962C8B-B14F-4D97-AF65-F5344CB8AC3E}">
        <p14:creationId xmlns:p14="http://schemas.microsoft.com/office/powerpoint/2010/main" val="83453471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DCF41D-BDFA-8E2A-0A50-686990E86C67}"/>
            </a:ext>
          </a:extLst>
        </p:cNvPr>
        <p:cNvGrpSpPr/>
        <p:nvPr/>
      </p:nvGrpSpPr>
      <p:grpSpPr>
        <a:xfrm>
          <a:off x="0" y="0"/>
          <a:ext cx="0" cy="0"/>
          <a:chOff x="0" y="0"/>
          <a:chExt cx="0" cy="0"/>
        </a:xfrm>
      </p:grpSpPr>
      <p:sp>
        <p:nvSpPr>
          <p:cNvPr id="5" name="Shape 3">
            <a:extLst>
              <a:ext uri="{FF2B5EF4-FFF2-40B4-BE49-F238E27FC236}">
                <a16:creationId xmlns:a16="http://schemas.microsoft.com/office/drawing/2014/main" id="{618CEFE7-66BB-B8A4-0959-1652EE908D17}"/>
              </a:ext>
            </a:extLst>
          </p:cNvPr>
          <p:cNvSpPr/>
          <p:nvPr/>
        </p:nvSpPr>
        <p:spPr>
          <a:xfrm>
            <a:off x="763310" y="1211853"/>
            <a:ext cx="121920" cy="5949112"/>
          </a:xfrm>
          <a:prstGeom prst="roundRect">
            <a:avLst>
              <a:gd name="adj" fmla="val 27907"/>
            </a:avLst>
          </a:prstGeom>
          <a:solidFill>
            <a:srgbClr val="325F7B"/>
          </a:solidFill>
          <a:ln/>
        </p:spPr>
        <p:txBody>
          <a:bodyPr/>
          <a:lstStyle/>
          <a:p>
            <a:endParaRPr lang="es-ES" noProof="0" dirty="0"/>
          </a:p>
        </p:txBody>
      </p:sp>
      <p:sp>
        <p:nvSpPr>
          <p:cNvPr id="19" name="TextBox 18">
            <a:extLst>
              <a:ext uri="{FF2B5EF4-FFF2-40B4-BE49-F238E27FC236}">
                <a16:creationId xmlns:a16="http://schemas.microsoft.com/office/drawing/2014/main" id="{29509B99-9019-35E3-A5D7-CC6D9D9C8843}"/>
              </a:ext>
            </a:extLst>
          </p:cNvPr>
          <p:cNvSpPr txBox="1"/>
          <p:nvPr/>
        </p:nvSpPr>
        <p:spPr>
          <a:xfrm>
            <a:off x="1189820" y="1211854"/>
            <a:ext cx="12338891" cy="3416320"/>
          </a:xfrm>
          <a:prstGeom prst="rect">
            <a:avLst/>
          </a:prstGeom>
          <a:noFill/>
        </p:spPr>
        <p:txBody>
          <a:bodyPr wrap="square" rtlCol="0">
            <a:spAutoFit/>
          </a:bodyPr>
          <a:lstStyle/>
          <a:p>
            <a:pPr marL="285750" indent="-285750">
              <a:buFont typeface="Arial" panose="020B0604020202020204" pitchFamily="34" charset="0"/>
              <a:buChar char="•"/>
            </a:pPr>
            <a:endParaRPr lang="es-ES" dirty="0"/>
          </a:p>
          <a:p>
            <a:pPr marL="285750" indent="-285750">
              <a:buFont typeface="Arial" panose="020B0604020202020204" pitchFamily="34" charset="0"/>
              <a:buChar char="•"/>
            </a:pPr>
            <a:r>
              <a:rPr lang="es-ES" b="1" dirty="0"/>
              <a:t>Taylor (1993). </a:t>
            </a:r>
            <a:r>
              <a:rPr lang="es-ES" dirty="0" err="1"/>
              <a:t>Discretion</a:t>
            </a:r>
            <a:r>
              <a:rPr lang="es-ES" dirty="0"/>
              <a:t> versus </a:t>
            </a:r>
            <a:r>
              <a:rPr lang="es-ES" dirty="0" err="1"/>
              <a:t>Policy</a:t>
            </a:r>
            <a:r>
              <a:rPr lang="es-ES" dirty="0"/>
              <a:t> Rules in </a:t>
            </a:r>
            <a:r>
              <a:rPr lang="es-ES" dirty="0" err="1"/>
              <a:t>Practice</a:t>
            </a:r>
            <a:r>
              <a:rPr lang="es-ES" dirty="0"/>
              <a:t>. </a:t>
            </a:r>
          </a:p>
          <a:p>
            <a:pPr marL="285750" indent="-285750">
              <a:buFont typeface="Arial" panose="020B0604020202020204" pitchFamily="34" charset="0"/>
              <a:buChar char="•"/>
            </a:pPr>
            <a:endParaRPr lang="es-ES" dirty="0"/>
          </a:p>
          <a:p>
            <a:pPr marL="285750" indent="-285750">
              <a:buFont typeface="Arial" panose="020B0604020202020204" pitchFamily="34" charset="0"/>
              <a:buChar char="•"/>
            </a:pPr>
            <a:r>
              <a:rPr lang="es-ES" b="1" dirty="0" err="1"/>
              <a:t>Clarida</a:t>
            </a:r>
            <a:r>
              <a:rPr lang="es-ES" b="1" dirty="0"/>
              <a:t>, Galí &amp; </a:t>
            </a:r>
            <a:r>
              <a:rPr lang="es-ES" b="1" dirty="0" err="1"/>
              <a:t>Gertler</a:t>
            </a:r>
            <a:r>
              <a:rPr lang="es-ES" b="1" dirty="0"/>
              <a:t> (2000). </a:t>
            </a:r>
            <a:r>
              <a:rPr lang="en-US" dirty="0"/>
              <a:t>Monetary Policy Rules and Macroeconomic Stability: Evidence and Some Theory.</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s-ES" b="1" dirty="0"/>
              <a:t>Park &amp; Casella (2012).</a:t>
            </a:r>
            <a:r>
              <a:rPr lang="es-ES" dirty="0"/>
              <a:t> </a:t>
            </a:r>
            <a:r>
              <a:rPr lang="es-ES" dirty="0" err="1"/>
              <a:t>The</a:t>
            </a:r>
            <a:r>
              <a:rPr lang="es-ES" dirty="0"/>
              <a:t> </a:t>
            </a:r>
            <a:r>
              <a:rPr lang="es-ES" dirty="0" err="1"/>
              <a:t>Bayesian</a:t>
            </a:r>
            <a:r>
              <a:rPr lang="es-ES" dirty="0"/>
              <a:t> Lasso. </a:t>
            </a:r>
          </a:p>
          <a:p>
            <a:pPr marL="285750" indent="-285750">
              <a:buFont typeface="Arial" panose="020B0604020202020204" pitchFamily="34" charset="0"/>
              <a:buChar char="•"/>
            </a:pPr>
            <a:endParaRPr lang="es-ES" dirty="0"/>
          </a:p>
          <a:p>
            <a:pPr marL="285750" indent="-285750">
              <a:buFont typeface="Arial" panose="020B0604020202020204" pitchFamily="34" charset="0"/>
              <a:buChar char="•"/>
            </a:pPr>
            <a:r>
              <a:rPr lang="es-ES" b="1" dirty="0"/>
              <a:t>Hofmann, Manea &amp; </a:t>
            </a:r>
            <a:r>
              <a:rPr lang="es-ES" b="1" dirty="0" err="1"/>
              <a:t>Mojon</a:t>
            </a:r>
            <a:r>
              <a:rPr lang="es-ES" b="1" dirty="0"/>
              <a:t> (2024).</a:t>
            </a:r>
            <a:r>
              <a:rPr lang="en-US" dirty="0"/>
              <a:t> Targeted Taylor rules: monetary policy responses to demand- and supply-driven inflation. </a:t>
            </a:r>
            <a:endParaRPr lang="es-ES" dirty="0"/>
          </a:p>
          <a:p>
            <a:pPr marL="285750" indent="-285750">
              <a:buFont typeface="Arial" panose="020B0604020202020204" pitchFamily="34" charset="0"/>
              <a:buChar char="•"/>
            </a:pPr>
            <a:endParaRPr lang="es-ES" dirty="0"/>
          </a:p>
          <a:p>
            <a:pPr marL="285750" indent="-285750">
              <a:buFont typeface="Arial" panose="020B0604020202020204" pitchFamily="34" charset="0"/>
              <a:buChar char="•"/>
            </a:pPr>
            <a:endParaRPr lang="es-ES" dirty="0"/>
          </a:p>
          <a:p>
            <a:pPr marL="285750" indent="-285750">
              <a:buFont typeface="Arial" panose="020B0604020202020204" pitchFamily="34" charset="0"/>
              <a:buChar char="•"/>
            </a:pPr>
            <a:endParaRPr lang="es-ES" dirty="0"/>
          </a:p>
          <a:p>
            <a:pPr marL="285750" indent="-285750">
              <a:buFont typeface="Arial" panose="020B0604020202020204" pitchFamily="34" charset="0"/>
              <a:buChar char="•"/>
            </a:pPr>
            <a:endParaRPr lang="en-US" dirty="0"/>
          </a:p>
        </p:txBody>
      </p:sp>
      <p:sp>
        <p:nvSpPr>
          <p:cNvPr id="2" name="TextBox 1">
            <a:extLst>
              <a:ext uri="{FF2B5EF4-FFF2-40B4-BE49-F238E27FC236}">
                <a16:creationId xmlns:a16="http://schemas.microsoft.com/office/drawing/2014/main" id="{62282F52-DE26-BD1B-0D65-7B48C14149D5}"/>
              </a:ext>
            </a:extLst>
          </p:cNvPr>
          <p:cNvSpPr txBox="1"/>
          <p:nvPr/>
        </p:nvSpPr>
        <p:spPr>
          <a:xfrm>
            <a:off x="609072" y="566227"/>
            <a:ext cx="3863776" cy="461665"/>
          </a:xfrm>
          <a:prstGeom prst="rect">
            <a:avLst/>
          </a:prstGeom>
          <a:noFill/>
        </p:spPr>
        <p:txBody>
          <a:bodyPr wrap="square" rtlCol="0">
            <a:spAutoFit/>
          </a:bodyPr>
          <a:lstStyle/>
          <a:p>
            <a:r>
              <a:rPr lang="es-ES" sz="2400" dirty="0">
                <a:latin typeface="Source Sans 3" panose="020B0604020202020204" charset="0"/>
              </a:rPr>
              <a:t>Bibliografía</a:t>
            </a:r>
            <a:endParaRPr lang="en-US" dirty="0">
              <a:latin typeface="Source Sans 3" panose="020B0604020202020204" charset="0"/>
            </a:endParaRPr>
          </a:p>
        </p:txBody>
      </p:sp>
    </p:spTree>
    <p:extLst>
      <p:ext uri="{BB962C8B-B14F-4D97-AF65-F5344CB8AC3E}">
        <p14:creationId xmlns:p14="http://schemas.microsoft.com/office/powerpoint/2010/main" val="256209030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994</TotalTime>
  <Words>1993</Words>
  <Application>Microsoft Office PowerPoint</Application>
  <PresentationFormat>Custom</PresentationFormat>
  <Paragraphs>173</Paragraphs>
  <Slides>12</Slides>
  <Notes>12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Cambria Math</vt:lpstr>
      <vt:lpstr>Arial</vt:lpstr>
      <vt:lpstr>Source Sans 3</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Pedro Bosch</dc:creator>
  <cp:lastModifiedBy>Pedro Bosch</cp:lastModifiedBy>
  <cp:revision>46</cp:revision>
  <dcterms:created xsi:type="dcterms:W3CDTF">2025-09-21T12:51:42Z</dcterms:created>
  <dcterms:modified xsi:type="dcterms:W3CDTF">2025-12-13T21:15:49Z</dcterms:modified>
</cp:coreProperties>
</file>